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9"/>
  </p:notesMasterIdLst>
  <p:sldIdLst>
    <p:sldId id="258" r:id="rId2"/>
    <p:sldId id="288" r:id="rId3"/>
    <p:sldId id="259" r:id="rId4"/>
    <p:sldId id="263" r:id="rId5"/>
    <p:sldId id="266" r:id="rId6"/>
    <p:sldId id="264" r:id="rId7"/>
    <p:sldId id="260" r:id="rId8"/>
    <p:sldId id="267" r:id="rId9"/>
    <p:sldId id="270" r:id="rId10"/>
    <p:sldId id="269" r:id="rId11"/>
    <p:sldId id="268" r:id="rId12"/>
    <p:sldId id="274" r:id="rId13"/>
    <p:sldId id="280" r:id="rId14"/>
    <p:sldId id="261" r:id="rId15"/>
    <p:sldId id="271" r:id="rId16"/>
    <p:sldId id="284" r:id="rId17"/>
    <p:sldId id="285" r:id="rId18"/>
    <p:sldId id="272" r:id="rId19"/>
    <p:sldId id="286" r:id="rId20"/>
    <p:sldId id="287" r:id="rId21"/>
    <p:sldId id="273" r:id="rId22"/>
    <p:sldId id="275" r:id="rId23"/>
    <p:sldId id="262" r:id="rId24"/>
    <p:sldId id="276" r:id="rId25"/>
    <p:sldId id="277" r:id="rId26"/>
    <p:sldId id="279" r:id="rId27"/>
    <p:sldId id="27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45" autoAdjust="0"/>
    <p:restoredTop sz="94743" autoAdjust="0"/>
  </p:normalViewPr>
  <p:slideViewPr>
    <p:cSldViewPr snapToGrid="0">
      <p:cViewPr varScale="1">
        <p:scale>
          <a:sx n="91" d="100"/>
          <a:sy n="91" d="100"/>
        </p:scale>
        <p:origin x="2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D6EC6-FD10-435F-A595-F836946FCCED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00F11-94CA-4829-AF81-F57CE0CB2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71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00F11-94CA-4829-AF81-F57CE0CB278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033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00F11-94CA-4829-AF81-F57CE0CB278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186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00F11-94CA-4829-AF81-F57CE0CB278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488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00F11-94CA-4829-AF81-F57CE0CB278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921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00F11-94CA-4829-AF81-F57CE0CB278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327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00F11-94CA-4829-AF81-F57CE0CB278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392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00F11-94CA-4829-AF81-F57CE0CB278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065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00F11-94CA-4829-AF81-F57CE0CB278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466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00F11-94CA-4829-AF81-F57CE0CB278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664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877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81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349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84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46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28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092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30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69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63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717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FF73B1F-2F92-44BB-9662-C36F3B22D32F}" type="datetimeFigureOut">
              <a:rPr lang="zh-CN" altLang="en-US" smtClean="0"/>
              <a:t>2025/8/17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0A8C403-2311-47AB-BC24-76C1ACFF595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80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-utility.org/text/analyzer.js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hyperlink" Target="https://www.sif.com/" TargetMode="External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hyperlink" Target="https://www.sellersprite.com/v2/keyword-reverse" TargetMode="External"/><Relationship Id="rId4" Type="http://schemas.openxmlformats.org/officeDocument/2006/relationships/hyperlink" Target="https://xp.sellermotor.com/selection/asin-track/index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D501FA-4F8C-40AE-8A34-C27BA578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29228"/>
            <a:ext cx="10332580" cy="1990460"/>
          </a:xfrm>
        </p:spPr>
        <p:txBody>
          <a:bodyPr/>
          <a:lstStyle/>
          <a:p>
            <a:r>
              <a:rPr lang="en-US" altLang="zh-CN" dirty="0"/>
              <a:t>Excel</a:t>
            </a:r>
            <a:r>
              <a:rPr lang="zh-CN" altLang="en-US" dirty="0"/>
              <a:t>报表制作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208C9DF-7AD3-C892-C251-7705C4B28D55}"/>
              </a:ext>
            </a:extLst>
          </p:cNvPr>
          <p:cNvSpPr txBox="1">
            <a:spLocks/>
          </p:cNvSpPr>
          <p:nvPr/>
        </p:nvSpPr>
        <p:spPr>
          <a:xfrm>
            <a:off x="1024128" y="1660089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dirty="0">
                <a:latin typeface="+mj-ea"/>
              </a:rPr>
              <a:t>李璐</a:t>
            </a:r>
            <a:endParaRPr lang="en-US" altLang="zh-CN" sz="2000" dirty="0">
              <a:latin typeface="+mj-ea"/>
            </a:endParaRPr>
          </a:p>
          <a:p>
            <a:r>
              <a:rPr lang="en-US" altLang="zh-CN" sz="2000" dirty="0">
                <a:latin typeface="+mj-ea"/>
              </a:rPr>
              <a:t>421745216@qq.com</a:t>
            </a:r>
            <a:endParaRPr lang="zh-CN" altLang="en-US" sz="20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61899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E3548-175E-E3A6-4AC6-79552C01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505B2-4BE1-C6B2-140A-D0D65EEC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Excel</a:t>
            </a:r>
            <a:r>
              <a:rPr lang="zh-CN" altLang="en-US" dirty="0"/>
              <a:t>报表制作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FAD71E-C2F9-3D8B-7449-360AC958E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757838"/>
            <a:ext cx="11353800" cy="4961674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基础设置：</a:t>
            </a:r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）时间函数</a:t>
            </a:r>
            <a:endParaRPr lang="en-US" altLang="zh-CN" sz="16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）透视表设置：</a:t>
            </a:r>
            <a:r>
              <a:rPr lang="zh-CN" altLang="en-US" sz="1500" dirty="0"/>
              <a:t>在透视表里用条件格式，如何保证不被刷新</a:t>
            </a:r>
            <a:endParaRPr lang="en-US" altLang="zh-CN" sz="1600" dirty="0"/>
          </a:p>
          <a:p>
            <a:r>
              <a:rPr lang="en-US" altLang="zh-CN" sz="2000" dirty="0"/>
              <a:t>2.search term</a:t>
            </a:r>
            <a:r>
              <a:rPr lang="zh-CN" altLang="en-US" sz="2000" dirty="0"/>
              <a:t>报告分析：</a:t>
            </a:r>
            <a:endParaRPr lang="en-US" altLang="zh-CN" sz="20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）前期准备：三个报表</a:t>
            </a:r>
            <a:r>
              <a:rPr lang="en-US" altLang="zh-CN" sz="1600" dirty="0"/>
              <a:t>+</a:t>
            </a:r>
            <a:r>
              <a:rPr lang="zh-CN" altLang="en-US" sz="1600" dirty="0"/>
              <a:t>切片器</a:t>
            </a:r>
            <a:endParaRPr lang="en-US" altLang="zh-CN" sz="16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</a:t>
            </a:r>
            <a:r>
              <a:rPr lang="en-US" altLang="zh-CN" sz="1600" dirty="0"/>
              <a:t>search term</a:t>
            </a:r>
            <a:r>
              <a:rPr lang="zh-CN" altLang="en-US" sz="1600" dirty="0"/>
              <a:t>表函数：数值分档</a:t>
            </a:r>
            <a:r>
              <a:rPr lang="en-US" altLang="zh-CN" sz="1600" dirty="0"/>
              <a:t>+</a:t>
            </a:r>
            <a:r>
              <a:rPr lang="zh-CN" altLang="en-US" sz="1600" dirty="0"/>
              <a:t>看是否已投</a:t>
            </a:r>
            <a:endParaRPr lang="en-US" altLang="zh-CN" sz="16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3</a:t>
            </a:r>
            <a:r>
              <a:rPr lang="zh-CN" altLang="en-US" sz="1600" dirty="0"/>
              <a:t>）词根分析</a:t>
            </a:r>
            <a:endParaRPr lang="en-US" altLang="zh-CN" sz="16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寻找其他加大空间：</a:t>
            </a:r>
            <a:endParaRPr lang="en-US" altLang="zh-CN" sz="20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）分析流量结构及变化趋势</a:t>
            </a:r>
            <a:endParaRPr lang="en-US" altLang="zh-CN" sz="16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）分析</a:t>
            </a:r>
            <a:r>
              <a:rPr lang="en-US" altLang="zh-CN" sz="1600" dirty="0"/>
              <a:t>model</a:t>
            </a:r>
            <a:r>
              <a:rPr lang="zh-CN" altLang="en-US" sz="1600" dirty="0"/>
              <a:t>的流量词变化趋势</a:t>
            </a:r>
            <a:endParaRPr lang="en-US" altLang="zh-CN" sz="16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3</a:t>
            </a:r>
            <a:r>
              <a:rPr lang="zh-CN" altLang="en-US" sz="1600" dirty="0"/>
              <a:t>）</a:t>
            </a:r>
            <a:r>
              <a:rPr lang="en-US" altLang="zh-CN" sz="1600" dirty="0"/>
              <a:t>ABA</a:t>
            </a:r>
            <a:r>
              <a:rPr lang="zh-CN" altLang="en-US" sz="1600" dirty="0"/>
              <a:t>报表分析寻找加大空间</a:t>
            </a:r>
            <a:endParaRPr lang="en-US" altLang="zh-CN" sz="16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4</a:t>
            </a:r>
            <a:r>
              <a:rPr lang="zh-CN" altLang="en-US" sz="1600" dirty="0"/>
              <a:t>）竞品</a:t>
            </a:r>
            <a:r>
              <a:rPr lang="en-US" altLang="zh-CN" sz="1600" dirty="0"/>
              <a:t>ASIN</a:t>
            </a:r>
            <a:r>
              <a:rPr lang="zh-CN" altLang="en-US" sz="1600" dirty="0"/>
              <a:t>流量词反查寻找加大空间</a:t>
            </a:r>
            <a:endParaRPr lang="en-US" altLang="zh-CN" sz="1600" dirty="0"/>
          </a:p>
          <a:p>
            <a:r>
              <a:rPr lang="en-US" altLang="zh-CN" sz="2000" dirty="0"/>
              <a:t>4.</a:t>
            </a:r>
            <a:r>
              <a:rPr lang="zh-CN" altLang="en-US" sz="2000" dirty="0"/>
              <a:t>其他延申：</a:t>
            </a:r>
            <a:endParaRPr lang="en-US" altLang="zh-CN" sz="20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1</a:t>
            </a:r>
            <a:r>
              <a:rPr lang="zh-CN" altLang="en-US" sz="1600" dirty="0"/>
              <a:t>）计算文本里单词总个数</a:t>
            </a:r>
            <a:endParaRPr lang="en-US" altLang="zh-CN" sz="16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2</a:t>
            </a:r>
            <a:r>
              <a:rPr lang="zh-CN" altLang="en-US" sz="1600" dirty="0"/>
              <a:t>）计算文本里有多少个目标单词</a:t>
            </a:r>
            <a:endParaRPr lang="en-US" altLang="zh-CN" sz="16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3</a:t>
            </a:r>
            <a:r>
              <a:rPr lang="zh-CN" altLang="en-US" sz="1600" dirty="0"/>
              <a:t>）快速把分列的词改成用逗号连接</a:t>
            </a:r>
            <a:endParaRPr lang="en-US" altLang="zh-CN" sz="1600" dirty="0"/>
          </a:p>
          <a:p>
            <a:pPr lvl="1"/>
            <a:r>
              <a:rPr lang="zh-CN" altLang="en-US" sz="1600" dirty="0"/>
              <a:t>（</a:t>
            </a:r>
            <a:r>
              <a:rPr lang="en-US" altLang="zh-CN" sz="1600" dirty="0"/>
              <a:t>4</a:t>
            </a:r>
            <a:r>
              <a:rPr lang="zh-CN" altLang="en-US" sz="1600" dirty="0"/>
              <a:t>）</a:t>
            </a:r>
            <a:r>
              <a:rPr lang="en-US" altLang="zh-CN" sz="1600" dirty="0"/>
              <a:t>SQL</a:t>
            </a:r>
            <a:r>
              <a:rPr lang="zh-CN" altLang="en-US" sz="1600" dirty="0"/>
              <a:t>：快速刷新原始数据，无需每次复制粘贴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11320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514F9-48D7-458D-881B-EEFAD89C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6000" dirty="0"/>
              <a:t>1.</a:t>
            </a:r>
            <a:r>
              <a:rPr lang="zh-CN" altLang="en-US" sz="6000"/>
              <a:t>基础设置：</a:t>
            </a:r>
            <a:br>
              <a:rPr lang="zh-CN" altLang="en-US" sz="6000" dirty="0"/>
            </a:b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4196D5-090A-4A65-A169-49D365D7E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9056" y="5131587"/>
            <a:ext cx="4122944" cy="1463040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）时间函数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）透视表设置：在透视表里用条件格式，如何保证不被刷新</a:t>
            </a:r>
            <a:endParaRPr lang="en-US" altLang="zh-CN" dirty="0"/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4285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516AE-9D9F-4CF0-8CD7-093DD482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）时间函数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6ACFEF-7351-4F82-A94D-FF693154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092" y="1737158"/>
            <a:ext cx="11265816" cy="4876833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下载按日</a:t>
            </a:r>
            <a:r>
              <a:rPr lang="en-US" altLang="zh-CN" sz="2000" dirty="0"/>
              <a:t>SKU</a:t>
            </a:r>
            <a:r>
              <a:rPr lang="zh-CN" altLang="en-US" sz="2000" dirty="0"/>
              <a:t>报表</a:t>
            </a:r>
            <a:endParaRPr lang="en-US" altLang="zh-CN" sz="2000" dirty="0"/>
          </a:p>
          <a:p>
            <a:r>
              <a:rPr lang="zh-CN" altLang="en-US" sz="2000" dirty="0"/>
              <a:t>假设报表日期单元格 </a:t>
            </a:r>
            <a:r>
              <a:rPr lang="en-US" altLang="zh-CN" sz="2000" dirty="0"/>
              <a:t>U2</a:t>
            </a:r>
            <a:r>
              <a:rPr lang="zh-CN" altLang="en-US" sz="2000" dirty="0"/>
              <a:t>，格式为</a:t>
            </a:r>
            <a:r>
              <a:rPr lang="en-US" altLang="zh-CN" sz="2000" dirty="0"/>
              <a:t>2021-05-20</a:t>
            </a:r>
          </a:p>
          <a:p>
            <a:endParaRPr lang="en-US" altLang="zh-CN" sz="1600" dirty="0"/>
          </a:p>
          <a:p>
            <a:r>
              <a:rPr lang="en-US" altLang="zh-CN" sz="1600" b="1" dirty="0"/>
              <a:t>①</a:t>
            </a:r>
            <a:r>
              <a:rPr lang="zh-CN" altLang="en-US" sz="1600" b="1" dirty="0"/>
              <a:t>年份：</a:t>
            </a:r>
            <a:r>
              <a:rPr lang="en-US" altLang="zh-CN" sz="1600" b="1" dirty="0"/>
              <a:t>=YEAR(U2*1)&amp;"</a:t>
            </a:r>
            <a:r>
              <a:rPr lang="zh-CN" altLang="en-US" sz="1600" b="1" dirty="0"/>
              <a:t>年</a:t>
            </a:r>
            <a:r>
              <a:rPr lang="en-US" altLang="zh-CN" sz="1600" b="1" dirty="0"/>
              <a:t>"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说明：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year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函数为提炼日期的年份，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&amp;"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年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"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是增强可读性</a:t>
            </a:r>
            <a:endParaRPr lang="en-US" altLang="zh-CN" sz="1600" dirty="0"/>
          </a:p>
          <a:p>
            <a:r>
              <a:rPr lang="zh-CN" altLang="en-US" sz="1600" b="1" dirty="0"/>
              <a:t>②月份：</a:t>
            </a:r>
            <a:r>
              <a:rPr lang="en-US" altLang="zh-CN" sz="1600" b="1" dirty="0"/>
              <a:t>=MONTH(U2*1)&amp;"</a:t>
            </a:r>
            <a:r>
              <a:rPr lang="zh-CN" altLang="en-US" sz="1600" b="1" dirty="0"/>
              <a:t>月</a:t>
            </a:r>
            <a:r>
              <a:rPr lang="en-US" altLang="zh-CN" sz="1600" b="1" dirty="0"/>
              <a:t>"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说明：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month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函数为取月份</a:t>
            </a:r>
            <a:endParaRPr lang="zh-CN" altLang="en-US" sz="1600" dirty="0"/>
          </a:p>
          <a:p>
            <a:r>
              <a:rPr lang="zh-CN" altLang="en-US" sz="1600" b="1" dirty="0"/>
              <a:t>③季度：</a:t>
            </a:r>
            <a:r>
              <a:rPr lang="en-US" altLang="zh-CN" sz="1600" b="1" dirty="0"/>
              <a:t>="Q"&amp;ROUNDUP(MONTH(U2*1)/3,0)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说明：月份除以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取商，如果有余数则进一</a:t>
            </a:r>
          </a:p>
          <a:p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Round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函数：省略小数点后（直接修改单元格格式的话，只是改了显示，数值没变）</a:t>
            </a:r>
          </a:p>
          <a:p>
            <a:pPr lvl="1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四舍五入：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=round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（对象，小数点后位数） </a:t>
            </a:r>
          </a:p>
          <a:p>
            <a:pPr lvl="1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直接进位（小数都必须凑整）：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=roundup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（对象，小数点后位数）</a:t>
            </a:r>
          </a:p>
          <a:p>
            <a:pPr lvl="1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直接舍掉后面：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=</a:t>
            </a:r>
            <a:r>
              <a:rPr lang="en-US" altLang="zh-CN" sz="1400" dirty="0" err="1">
                <a:solidFill>
                  <a:schemeClr val="accent5">
                    <a:lumMod val="50000"/>
                  </a:schemeClr>
                </a:solidFill>
              </a:rPr>
              <a:t>rounddown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（对象，小数点后位数）</a:t>
            </a:r>
            <a:endParaRPr lang="en-US" altLang="zh-CN" sz="14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8843B0-54B8-469E-BDA1-513C1A158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697" y="591684"/>
            <a:ext cx="4519765" cy="567463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453591C-EEE3-43A2-88FB-BE75EC45A111}"/>
              </a:ext>
            </a:extLst>
          </p:cNvPr>
          <p:cNvSpPr txBox="1"/>
          <p:nvPr/>
        </p:nvSpPr>
        <p:spPr>
          <a:xfrm>
            <a:off x="5155470" y="3272780"/>
            <a:ext cx="2241228" cy="175432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R</a:t>
            </a:r>
            <a:r>
              <a:rPr lang="en-US" altLang="zh-CN" sz="1800" dirty="0">
                <a:solidFill>
                  <a:schemeClr val="bg1"/>
                </a:solidFill>
              </a:rPr>
              <a:t>ound(4.1)=4 Round(4.6)=5</a:t>
            </a:r>
            <a:endParaRPr lang="zh-CN" altLang="en-US" sz="1800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Roundup(4.1)=5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Roundup(4.6)=5</a:t>
            </a:r>
          </a:p>
          <a:p>
            <a:r>
              <a:rPr lang="en-US" altLang="zh-CN" dirty="0" err="1">
                <a:solidFill>
                  <a:schemeClr val="bg1"/>
                </a:solidFill>
              </a:rPr>
              <a:t>Rounddown</a:t>
            </a:r>
            <a:r>
              <a:rPr lang="en-US" altLang="zh-CN" dirty="0">
                <a:solidFill>
                  <a:schemeClr val="bg1"/>
                </a:solidFill>
              </a:rPr>
              <a:t>(4.1)=4</a:t>
            </a:r>
          </a:p>
          <a:p>
            <a:r>
              <a:rPr lang="en-US" altLang="zh-CN" dirty="0" err="1">
                <a:solidFill>
                  <a:schemeClr val="bg1"/>
                </a:solidFill>
              </a:rPr>
              <a:t>Rounddown</a:t>
            </a:r>
            <a:r>
              <a:rPr lang="en-US" altLang="zh-CN" dirty="0">
                <a:solidFill>
                  <a:schemeClr val="bg1"/>
                </a:solidFill>
              </a:rPr>
              <a:t>(4.6)=4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90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516AE-9D9F-4CF0-8CD7-093DD482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）时间函数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6ACFEF-7351-4F82-A94D-FF693154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092" y="1770556"/>
            <a:ext cx="11265816" cy="4876833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下载按日</a:t>
            </a:r>
            <a:r>
              <a:rPr lang="en-US" altLang="zh-CN" sz="2000" dirty="0"/>
              <a:t>SKU</a:t>
            </a:r>
            <a:r>
              <a:rPr lang="zh-CN" altLang="en-US" sz="2000" dirty="0"/>
              <a:t>报表</a:t>
            </a:r>
            <a:endParaRPr lang="en-US" altLang="zh-CN" sz="2000" dirty="0"/>
          </a:p>
          <a:p>
            <a:r>
              <a:rPr lang="zh-CN" altLang="en-US" sz="2000" dirty="0"/>
              <a:t>假设报表日期单元格 </a:t>
            </a:r>
            <a:r>
              <a:rPr lang="en-US" altLang="zh-CN" sz="2000" dirty="0"/>
              <a:t>U2</a:t>
            </a:r>
            <a:r>
              <a:rPr lang="zh-CN" altLang="en-US" sz="2000" dirty="0"/>
              <a:t>，格式为</a:t>
            </a:r>
            <a:r>
              <a:rPr lang="en-US" altLang="zh-CN" sz="2000" dirty="0"/>
              <a:t>2021-05-20</a:t>
            </a:r>
          </a:p>
          <a:p>
            <a:endParaRPr lang="en-US" altLang="zh-CN" sz="1600" dirty="0"/>
          </a:p>
          <a:p>
            <a:r>
              <a:rPr lang="zh-CN" altLang="en-US" sz="1600" b="1" dirty="0"/>
              <a:t>④非自然周：</a:t>
            </a:r>
            <a:r>
              <a:rPr lang="en-US" altLang="zh-CN" sz="1600" b="1" dirty="0"/>
              <a:t>="W"&amp;ROUNDUP(DAY(U2*1)/7,0)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说明：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day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函数取日期的日部分，与求季度的思路一致，除以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7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再进位</a:t>
            </a:r>
          </a:p>
          <a:p>
            <a:r>
              <a:rPr lang="zh-CN" altLang="en-US" sz="1600" b="1" dirty="0"/>
              <a:t>⑤自然周：</a:t>
            </a:r>
            <a:r>
              <a:rPr lang="en-US" altLang="zh-CN" sz="1600" b="1" dirty="0"/>
              <a:t>="</a:t>
            </a:r>
            <a:r>
              <a:rPr lang="zh-CN" altLang="en-US" sz="1600" b="1" dirty="0"/>
              <a:t>第</a:t>
            </a:r>
            <a:r>
              <a:rPr lang="en-US" altLang="zh-CN" sz="1600" b="1" dirty="0"/>
              <a:t>"&amp;WEEKNUM(U2,2)&amp;"</a:t>
            </a:r>
            <a:r>
              <a:rPr lang="zh-CN" altLang="en-US" sz="1600" b="1" dirty="0"/>
              <a:t>周</a:t>
            </a:r>
            <a:r>
              <a:rPr lang="en-US" altLang="zh-CN" sz="1600" b="1" dirty="0"/>
              <a:t>"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说明：</a:t>
            </a:r>
            <a:r>
              <a:rPr lang="en-US" altLang="zh-CN" sz="1400" dirty="0" err="1">
                <a:solidFill>
                  <a:schemeClr val="accent5">
                    <a:lumMod val="50000"/>
                  </a:schemeClr>
                </a:solidFill>
              </a:rPr>
              <a:t>weeknum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取自然周，参数为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日期单元格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,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周计算习惯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【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把哪天当第一天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】)</a:t>
            </a:r>
          </a:p>
          <a:p>
            <a:r>
              <a:rPr lang="en-US" altLang="zh-CN" sz="1600" b="1" dirty="0"/>
              <a:t>⑥</a:t>
            </a:r>
            <a:r>
              <a:rPr lang="zh-CN" altLang="en-US" sz="1600" b="1" dirty="0"/>
              <a:t>周几：</a:t>
            </a:r>
            <a:r>
              <a:rPr lang="en-US" altLang="zh-CN" sz="1600" b="1" dirty="0"/>
              <a:t>="</a:t>
            </a:r>
            <a:r>
              <a:rPr lang="zh-CN" altLang="en-US" sz="1600" b="1" dirty="0"/>
              <a:t>周</a:t>
            </a:r>
            <a:r>
              <a:rPr lang="en-US" altLang="zh-CN" sz="1600" b="1" dirty="0"/>
              <a:t>" &amp; NUMBERSTRING(WEEKDAY(U2*1,2),1)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说明：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weekday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函数为取周几，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=weekday(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日期单元格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,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返回单位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【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用什么数字代表哪一天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】)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阿拉伯数字转中文字：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NUMBERSTRING(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文本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,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格式参数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  <a:p>
            <a:pPr lvl="1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格式参数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：普通大写 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789=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七百八十九</a:t>
            </a:r>
          </a:p>
          <a:p>
            <a:pPr lvl="1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格式参数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：财务专用大写（繁体）</a:t>
            </a:r>
          </a:p>
          <a:p>
            <a:pPr lvl="1"/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格式参数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3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：仅数字大写 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789=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七八九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2D397B-C8B6-4204-9B66-44EF272CE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377" y="1128202"/>
            <a:ext cx="4145639" cy="52049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3DC6E13-7793-4990-96A0-5B764ECC05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597" y="1981662"/>
            <a:ext cx="1036410" cy="19966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F58D98E-EEE6-42BE-9CE9-4AE87498BA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939" y="5249199"/>
            <a:ext cx="1958869" cy="157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0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E890D-1164-4A59-A615-9909C64A3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11372623" cy="1499616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（</a:t>
            </a:r>
            <a:r>
              <a:rPr lang="en-US" altLang="zh-CN" sz="4000" dirty="0"/>
              <a:t>2</a:t>
            </a:r>
            <a:r>
              <a:rPr lang="zh-CN" altLang="en-US" sz="4000" dirty="0"/>
              <a:t>）透视表设置：</a:t>
            </a:r>
            <a:br>
              <a:rPr lang="en-US" altLang="zh-CN" sz="4000" dirty="0"/>
            </a:br>
            <a:r>
              <a:rPr lang="zh-CN" altLang="en-US" sz="4000" dirty="0"/>
              <a:t>在透视表里用条件格式，如何保证不被刷新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6A8258-8C2A-4080-A43A-EC49DF387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光标移动到需要的表头上缘后点击</a:t>
            </a:r>
            <a:r>
              <a:rPr lang="en-US" altLang="zh-CN" sz="2000" dirty="0"/>
              <a:t>——</a:t>
            </a:r>
            <a:r>
              <a:rPr lang="zh-CN" altLang="en-US" sz="2000" dirty="0"/>
              <a:t>条件格式：新建规则</a:t>
            </a:r>
            <a:r>
              <a:rPr lang="en-US" altLang="zh-CN" sz="2000" dirty="0"/>
              <a:t>——</a:t>
            </a:r>
            <a:r>
              <a:rPr lang="zh-CN" altLang="en-US" sz="2000" dirty="0"/>
              <a:t>规则应用于：所有显示</a:t>
            </a:r>
            <a:r>
              <a:rPr lang="en-US" altLang="zh-CN" sz="2000" dirty="0"/>
              <a:t>"</a:t>
            </a:r>
            <a:r>
              <a:rPr lang="zh-CN" altLang="en-US" sz="2000" dirty="0"/>
              <a:t>表头</a:t>
            </a:r>
            <a:r>
              <a:rPr lang="en-US" altLang="zh-CN" sz="2000" dirty="0"/>
              <a:t>"</a:t>
            </a:r>
            <a:r>
              <a:rPr lang="zh-CN" altLang="en-US" sz="2000" dirty="0"/>
              <a:t>的单元格</a:t>
            </a:r>
            <a:r>
              <a:rPr lang="en-US" altLang="zh-CN" sz="2000" dirty="0"/>
              <a:t>——</a:t>
            </a:r>
            <a:r>
              <a:rPr lang="zh-CN" altLang="en-US" sz="2000" dirty="0"/>
              <a:t>把格式样式选取为数据条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F71999-6959-402E-B804-80E254398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59" y="2937875"/>
            <a:ext cx="6730354" cy="351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29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EBB84B-102E-4C90-AEB6-FE6784C7C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6000" dirty="0"/>
              <a:t>2.search term</a:t>
            </a:r>
            <a:r>
              <a:rPr lang="zh-CN" altLang="en-US" sz="6000" dirty="0"/>
              <a:t>报告分析：</a:t>
            </a:r>
            <a:br>
              <a:rPr lang="en-US" altLang="zh-CN" sz="6000" dirty="0"/>
            </a:b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F82252-B64F-43EA-96B2-06B52C705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4800" y="5093487"/>
            <a:ext cx="4267200" cy="1463040"/>
          </a:xfrm>
        </p:spPr>
        <p:txBody>
          <a:bodyPr>
            <a:normAutofit/>
          </a:bodyPr>
          <a:lstStyle/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）前期准备：三个报表</a:t>
            </a:r>
            <a:r>
              <a:rPr lang="en-US" altLang="zh-CN" dirty="0"/>
              <a:t>+</a:t>
            </a:r>
            <a:r>
              <a:rPr lang="zh-CN" altLang="en-US" dirty="0"/>
              <a:t>切片器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search term</a:t>
            </a:r>
            <a:r>
              <a:rPr lang="zh-CN" altLang="en-US" dirty="0"/>
              <a:t>表函数：数值分档</a:t>
            </a:r>
            <a:r>
              <a:rPr lang="en-US" altLang="zh-CN" dirty="0"/>
              <a:t>+</a:t>
            </a:r>
            <a:r>
              <a:rPr lang="zh-CN" altLang="en-US" dirty="0"/>
              <a:t>看是否已投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）词根分析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909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BD6FF-A428-46A3-9456-D61B236C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）前期准备：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3DDF3-326B-46A8-A67A-FDFF1DD4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①三个透视表：下载日</a:t>
            </a:r>
            <a:r>
              <a:rPr lang="en-US" altLang="zh-CN" sz="2000" dirty="0"/>
              <a:t>search term</a:t>
            </a:r>
            <a:r>
              <a:rPr lang="zh-CN" altLang="en-US" sz="2000" dirty="0"/>
              <a:t>报表后拉三个透视表</a:t>
            </a:r>
            <a:endParaRPr lang="en-US" altLang="zh-CN" sz="2000" dirty="0"/>
          </a:p>
          <a:p>
            <a:pPr lvl="1"/>
            <a:r>
              <a:rPr lang="zh-CN" altLang="en-US" sz="1400" dirty="0"/>
              <a:t>数据颗粒：</a:t>
            </a:r>
            <a:r>
              <a:rPr lang="en-US" altLang="zh-CN" sz="1400" dirty="0"/>
              <a:t>report date/country/</a:t>
            </a:r>
            <a:r>
              <a:rPr lang="en-US" altLang="zh-CN" sz="1400" dirty="0" err="1"/>
              <a:t>adtype</a:t>
            </a:r>
            <a:r>
              <a:rPr lang="en-US" altLang="zh-CN" sz="1400" dirty="0"/>
              <a:t>/product model/keyword/</a:t>
            </a:r>
            <a:r>
              <a:rPr lang="en-US" altLang="zh-CN" sz="1400" dirty="0" err="1"/>
              <a:t>matchtype</a:t>
            </a:r>
            <a:endParaRPr lang="en-US" altLang="zh-CN" sz="1400" dirty="0"/>
          </a:p>
          <a:p>
            <a:pPr lvl="1"/>
            <a:r>
              <a:rPr lang="zh-CN" altLang="en-US" sz="1400" dirty="0"/>
              <a:t>透视表：</a:t>
            </a:r>
          </a:p>
          <a:p>
            <a:pPr lvl="2"/>
            <a:r>
              <a:rPr lang="zh-CN" altLang="en-US" sz="1400" dirty="0"/>
              <a:t>原始透视汇总：</a:t>
            </a:r>
            <a:r>
              <a:rPr lang="en-US" altLang="zh-CN" sz="1400" dirty="0"/>
              <a:t>search </a:t>
            </a:r>
            <a:r>
              <a:rPr lang="en-US" altLang="zh-CN" sz="1400" dirty="0" err="1"/>
              <a:t>term+keyword+matchtype</a:t>
            </a:r>
            <a:r>
              <a:rPr lang="en-US" altLang="zh-CN" sz="1400" dirty="0"/>
              <a:t>+</a:t>
            </a:r>
            <a:r>
              <a:rPr lang="zh-CN" altLang="en-US" sz="1400" dirty="0"/>
              <a:t>表现数据</a:t>
            </a:r>
          </a:p>
          <a:p>
            <a:pPr lvl="2"/>
            <a:r>
              <a:rPr lang="en-US" altLang="zh-CN" sz="1400" dirty="0"/>
              <a:t>search term</a:t>
            </a:r>
            <a:r>
              <a:rPr lang="zh-CN" altLang="en-US" sz="1400" dirty="0"/>
              <a:t>数据：只要</a:t>
            </a:r>
            <a:r>
              <a:rPr lang="en-US" altLang="zh-CN" sz="1400" dirty="0"/>
              <a:t>search term+</a:t>
            </a:r>
            <a:r>
              <a:rPr lang="zh-CN" altLang="en-US" sz="1400" dirty="0"/>
              <a:t>表现数据</a:t>
            </a:r>
          </a:p>
          <a:p>
            <a:pPr lvl="2"/>
            <a:r>
              <a:rPr lang="en-US" altLang="zh-CN" sz="1400" dirty="0"/>
              <a:t>keyword</a:t>
            </a:r>
            <a:r>
              <a:rPr lang="zh-CN" altLang="en-US" sz="1400" dirty="0"/>
              <a:t>数据：只要</a:t>
            </a:r>
            <a:r>
              <a:rPr lang="en-US" altLang="zh-CN" sz="1400" dirty="0"/>
              <a:t>keyword+</a:t>
            </a:r>
            <a:r>
              <a:rPr lang="zh-CN" altLang="en-US" sz="1400" dirty="0"/>
              <a:t>表现数据，筛选器</a:t>
            </a:r>
            <a:r>
              <a:rPr lang="en-US" altLang="zh-CN" sz="1400" dirty="0"/>
              <a:t>match type</a:t>
            </a:r>
            <a:r>
              <a:rPr lang="zh-CN" altLang="en-US" sz="1400" dirty="0"/>
              <a:t>固定为</a:t>
            </a:r>
            <a:r>
              <a:rPr lang="en-US" altLang="zh-CN" sz="1400" dirty="0"/>
              <a:t>exact</a:t>
            </a:r>
          </a:p>
          <a:p>
            <a:pPr marL="914400" lvl="2" indent="0">
              <a:buNone/>
            </a:pPr>
            <a:endParaRPr lang="en-US" altLang="zh-CN" sz="1200" dirty="0"/>
          </a:p>
          <a:p>
            <a:pPr lvl="1"/>
            <a:r>
              <a:rPr lang="zh-CN" altLang="en-US" sz="1050" b="1" dirty="0">
                <a:solidFill>
                  <a:schemeClr val="accent5">
                    <a:lumMod val="50000"/>
                  </a:schemeClr>
                </a:solidFill>
              </a:rPr>
              <a:t>注意：</a:t>
            </a:r>
            <a:r>
              <a:rPr lang="zh-CN" altLang="en-US" sz="1050" dirty="0">
                <a:solidFill>
                  <a:schemeClr val="accent5">
                    <a:lumMod val="50000"/>
                  </a:schemeClr>
                </a:solidFill>
              </a:rPr>
              <a:t>编辑器的</a:t>
            </a:r>
            <a:r>
              <a:rPr lang="en-US" altLang="zh-CN" sz="1050" dirty="0">
                <a:solidFill>
                  <a:schemeClr val="accent5">
                    <a:lumMod val="50000"/>
                  </a:schemeClr>
                </a:solidFill>
              </a:rPr>
              <a:t>search term</a:t>
            </a:r>
            <a:r>
              <a:rPr lang="zh-CN" altLang="en-US" sz="1050" dirty="0">
                <a:solidFill>
                  <a:schemeClr val="accent5">
                    <a:lumMod val="50000"/>
                  </a:schemeClr>
                </a:solidFill>
              </a:rPr>
              <a:t>报告广告类型目前只分了</a:t>
            </a:r>
            <a:r>
              <a:rPr lang="en-US" altLang="zh-CN" sz="1050" dirty="0">
                <a:solidFill>
                  <a:schemeClr val="accent5">
                    <a:lumMod val="50000"/>
                  </a:schemeClr>
                </a:solidFill>
              </a:rPr>
              <a:t>SP</a:t>
            </a:r>
            <a:r>
              <a:rPr lang="zh-CN" altLang="en-US" sz="1050" dirty="0">
                <a:solidFill>
                  <a:schemeClr val="accent5">
                    <a:lumMod val="50000"/>
                  </a:schemeClr>
                </a:solidFill>
              </a:rPr>
              <a:t>和</a:t>
            </a:r>
            <a:r>
              <a:rPr lang="en-US" altLang="zh-CN" sz="1050" dirty="0">
                <a:solidFill>
                  <a:schemeClr val="accent5">
                    <a:lumMod val="50000"/>
                  </a:schemeClr>
                </a:solidFill>
              </a:rPr>
              <a:t>SB</a:t>
            </a:r>
            <a:r>
              <a:rPr lang="zh-CN" altLang="en-US" sz="1050" dirty="0">
                <a:solidFill>
                  <a:schemeClr val="accent5">
                    <a:lumMod val="50000"/>
                  </a:schemeClr>
                </a:solidFill>
              </a:rPr>
              <a:t>，</a:t>
            </a:r>
            <a:r>
              <a:rPr lang="en-US" altLang="zh-CN" sz="1050" dirty="0">
                <a:solidFill>
                  <a:schemeClr val="accent5">
                    <a:lumMod val="50000"/>
                  </a:schemeClr>
                </a:solidFill>
              </a:rPr>
              <a:t>SBV</a:t>
            </a:r>
            <a:r>
              <a:rPr lang="zh-CN" altLang="en-US" sz="1050" dirty="0">
                <a:solidFill>
                  <a:schemeClr val="accent5">
                    <a:lumMod val="50000"/>
                  </a:schemeClr>
                </a:solidFill>
              </a:rPr>
              <a:t>和</a:t>
            </a:r>
            <a:r>
              <a:rPr lang="en-US" altLang="zh-CN" sz="1050" dirty="0">
                <a:solidFill>
                  <a:schemeClr val="accent5">
                    <a:lumMod val="50000"/>
                  </a:schemeClr>
                </a:solidFill>
              </a:rPr>
              <a:t>SD</a:t>
            </a:r>
            <a:r>
              <a:rPr lang="zh-CN" altLang="en-US" sz="1050" dirty="0">
                <a:solidFill>
                  <a:schemeClr val="accent5">
                    <a:lumMod val="50000"/>
                  </a:schemeClr>
                </a:solidFill>
              </a:rPr>
              <a:t>都是既不标注类型，也不标注</a:t>
            </a:r>
            <a:r>
              <a:rPr lang="en-US" altLang="zh-CN" sz="1050" dirty="0">
                <a:solidFill>
                  <a:schemeClr val="accent5">
                    <a:lumMod val="50000"/>
                  </a:schemeClr>
                </a:solidFill>
              </a:rPr>
              <a:t>model</a:t>
            </a:r>
            <a:r>
              <a:rPr lang="zh-CN" altLang="en-US" sz="1050" dirty="0">
                <a:solidFill>
                  <a:schemeClr val="accent5">
                    <a:lumMod val="50000"/>
                  </a:schemeClr>
                </a:solidFill>
              </a:rPr>
              <a:t>，所以分析</a:t>
            </a:r>
            <a:r>
              <a:rPr lang="en-US" altLang="zh-CN" sz="1050" dirty="0">
                <a:solidFill>
                  <a:schemeClr val="accent5">
                    <a:lumMod val="50000"/>
                  </a:schemeClr>
                </a:solidFill>
              </a:rPr>
              <a:t>SBV</a:t>
            </a:r>
            <a:r>
              <a:rPr lang="zh-CN" altLang="en-US" sz="1050" dirty="0">
                <a:solidFill>
                  <a:schemeClr val="accent5">
                    <a:lumMod val="50000"/>
                  </a:schemeClr>
                </a:solidFill>
              </a:rPr>
              <a:t>数据时，只能下单个</a:t>
            </a:r>
            <a:r>
              <a:rPr lang="en-US" altLang="zh-CN" sz="1050" dirty="0">
                <a:solidFill>
                  <a:schemeClr val="accent5">
                    <a:lumMod val="50000"/>
                  </a:schemeClr>
                </a:solidFill>
              </a:rPr>
              <a:t>model</a:t>
            </a:r>
            <a:r>
              <a:rPr lang="zh-CN" altLang="en-US" sz="1050" dirty="0">
                <a:solidFill>
                  <a:schemeClr val="accent5">
                    <a:lumMod val="50000"/>
                  </a:schemeClr>
                </a:solidFill>
              </a:rPr>
              <a:t>的分析</a:t>
            </a:r>
            <a:endParaRPr lang="en-US" altLang="zh-CN" sz="1050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endParaRPr lang="en-US" altLang="zh-CN" sz="1200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120C318-A480-4456-8FB0-66DDF98D0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471285"/>
            <a:ext cx="5091260" cy="101154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62FD15E-DF30-444D-B3DA-5078E978BA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19" y="4146843"/>
            <a:ext cx="10269561" cy="125697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1663121-01C6-463F-93BB-EF48B6E03F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448" y="5471286"/>
            <a:ext cx="4918749" cy="101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584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BD6FF-A428-46A3-9456-D61B236C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）前期准备：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3DDF3-326B-46A8-A67A-FDFF1DD47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06" y="1777142"/>
            <a:ext cx="9720073" cy="1101532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/>
              <a:t>②制作切片器：</a:t>
            </a:r>
          </a:p>
          <a:p>
            <a:r>
              <a:rPr lang="zh-CN" altLang="en-US" sz="2000" dirty="0"/>
              <a:t>插入切片器</a:t>
            </a:r>
            <a:r>
              <a:rPr lang="en-US" altLang="zh-CN" sz="2000" dirty="0"/>
              <a:t>——</a:t>
            </a:r>
            <a:r>
              <a:rPr lang="zh-CN" altLang="en-US" sz="2000" dirty="0"/>
              <a:t>插入</a:t>
            </a:r>
            <a:r>
              <a:rPr lang="en-US" altLang="zh-CN" sz="2000" dirty="0"/>
              <a:t>country/</a:t>
            </a:r>
            <a:r>
              <a:rPr lang="en-US" altLang="zh-CN" sz="2000" dirty="0" err="1"/>
              <a:t>adtype</a:t>
            </a:r>
            <a:r>
              <a:rPr lang="en-US" altLang="zh-CN" sz="2000" dirty="0"/>
              <a:t>/product model</a:t>
            </a:r>
            <a:r>
              <a:rPr lang="zh-CN" altLang="en-US" sz="2000" dirty="0"/>
              <a:t>切片器</a:t>
            </a:r>
            <a:r>
              <a:rPr lang="en-US" altLang="zh-CN" sz="2000" dirty="0"/>
              <a:t>——</a:t>
            </a:r>
            <a:r>
              <a:rPr lang="zh-CN" altLang="en-US" sz="2000" dirty="0"/>
              <a:t>右键连接报表，把三个表连接起来，切片器会对三个表进行同时筛选</a:t>
            </a:r>
            <a:r>
              <a:rPr lang="en-US" altLang="zh-CN" sz="2000" dirty="0"/>
              <a:t>——</a:t>
            </a:r>
            <a:r>
              <a:rPr lang="zh-CN" altLang="en-US" sz="2000" dirty="0"/>
              <a:t>把切片器复制到每个报表中</a:t>
            </a:r>
            <a:endParaRPr lang="en-US" altLang="zh-CN" sz="2000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76ABF05-7E23-4E0B-84D8-4DA1F77A8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648" y="3794856"/>
            <a:ext cx="1169094" cy="25170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2ED0A9-F341-4299-A1BD-7A6F8F5A3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493" y="3400372"/>
            <a:ext cx="3501847" cy="22097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E2423FF-D2EB-4EB0-B537-B01EE38FF3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86" y="3775679"/>
            <a:ext cx="1478194" cy="276228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42" y="2985678"/>
            <a:ext cx="7086600" cy="7900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A13CF44-7FAE-3ABD-62D4-95D83875E0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4001" y="4409911"/>
            <a:ext cx="3822896" cy="12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41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F347E-0C1F-4FD0-A9B8-4283B312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search term</a:t>
            </a:r>
            <a:r>
              <a:rPr lang="zh-CN" altLang="en-US" dirty="0"/>
              <a:t>表函数：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EABA14-1E17-4100-BDB6-0104B0894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327" y="1867191"/>
            <a:ext cx="9720073" cy="4023360"/>
          </a:xfrm>
        </p:spPr>
        <p:txBody>
          <a:bodyPr/>
          <a:lstStyle/>
          <a:p>
            <a:r>
              <a:rPr lang="zh-CN" altLang="en-US" sz="2000" dirty="0"/>
              <a:t>①对</a:t>
            </a:r>
            <a:r>
              <a:rPr lang="en-US" altLang="zh-CN" sz="2000" dirty="0" err="1"/>
              <a:t>click,order,CTR,acos,CVR</a:t>
            </a:r>
            <a:r>
              <a:rPr lang="zh-CN" altLang="en-US" sz="2000" dirty="0"/>
              <a:t>进行条件格式标注，把所有</a:t>
            </a:r>
            <a:r>
              <a:rPr lang="en-US" altLang="zh-CN" sz="2000" dirty="0"/>
              <a:t>search term</a:t>
            </a:r>
            <a:r>
              <a:rPr lang="zh-CN" altLang="en-US" sz="2000" dirty="0"/>
              <a:t>分三类：</a:t>
            </a:r>
          </a:p>
          <a:p>
            <a:r>
              <a:rPr lang="en-US" altLang="zh-CN" sz="1600" dirty="0"/>
              <a:t>a.</a:t>
            </a:r>
            <a:r>
              <a:rPr lang="zh-CN" altLang="en-US" sz="1600" dirty="0"/>
              <a:t>订单数＞</a:t>
            </a:r>
            <a:r>
              <a:rPr lang="en-US" altLang="zh-CN" sz="1600" dirty="0"/>
              <a:t>2</a:t>
            </a:r>
            <a:r>
              <a:rPr lang="zh-CN" altLang="en-US" sz="1600" dirty="0"/>
              <a:t>的：主要用于加词和加大</a:t>
            </a:r>
          </a:p>
          <a:p>
            <a:r>
              <a:rPr lang="en-US" altLang="zh-CN" sz="1600" dirty="0"/>
              <a:t>b.</a:t>
            </a:r>
            <a:r>
              <a:rPr lang="zh-CN" altLang="en-US" sz="1600" dirty="0"/>
              <a:t>订单数</a:t>
            </a:r>
            <a:r>
              <a:rPr lang="en-US" altLang="zh-CN" sz="1600" dirty="0"/>
              <a:t>=1</a:t>
            </a:r>
            <a:r>
              <a:rPr lang="zh-CN" altLang="en-US" sz="1600" dirty="0"/>
              <a:t>的：找超过点击门槛的词，偶然出单概率小；找</a:t>
            </a:r>
            <a:r>
              <a:rPr lang="en-US" altLang="zh-CN" sz="1600" dirty="0"/>
              <a:t>CVR</a:t>
            </a:r>
            <a:r>
              <a:rPr lang="zh-CN" altLang="en-US" sz="1600" dirty="0"/>
              <a:t>特别低的词</a:t>
            </a:r>
            <a:endParaRPr lang="en-US" altLang="zh-CN" sz="1600" dirty="0"/>
          </a:p>
          <a:p>
            <a:r>
              <a:rPr lang="en-US" altLang="zh-CN" sz="1600" dirty="0"/>
              <a:t>c.</a:t>
            </a:r>
            <a:r>
              <a:rPr lang="zh-CN" altLang="en-US" sz="1600" dirty="0"/>
              <a:t>订单数</a:t>
            </a:r>
            <a:r>
              <a:rPr lang="en-US" altLang="zh-CN" sz="1600" dirty="0"/>
              <a:t>=0</a:t>
            </a:r>
            <a:r>
              <a:rPr lang="zh-CN" altLang="en-US" sz="1600" dirty="0"/>
              <a:t>的：找点击数过门槛的看是否要否定</a:t>
            </a:r>
            <a:r>
              <a:rPr lang="en-US" altLang="zh-CN" sz="1600" dirty="0"/>
              <a:t>+</a:t>
            </a:r>
            <a:r>
              <a:rPr lang="zh-CN" altLang="en-US" sz="1600" dirty="0"/>
              <a:t>看</a:t>
            </a:r>
            <a:r>
              <a:rPr lang="en-US" altLang="zh-CN" sz="1600" dirty="0"/>
              <a:t>CTR</a:t>
            </a:r>
            <a:r>
              <a:rPr lang="zh-CN" altLang="en-US" sz="1600" dirty="0"/>
              <a:t>非常低的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51D8AF3-109E-DBD4-C76D-F5259CFD6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983" y="3510019"/>
            <a:ext cx="5950698" cy="317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52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BE6A5-98FF-4D5C-AFD5-4B6E8E6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search term</a:t>
            </a:r>
            <a:r>
              <a:rPr lang="zh-CN" altLang="en-US" dirty="0"/>
              <a:t>表函数：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4481B6-233D-4B48-83E9-B4FCA1BC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375" y="1689053"/>
            <a:ext cx="11623249" cy="5260157"/>
          </a:xfrm>
        </p:spPr>
        <p:txBody>
          <a:bodyPr>
            <a:normAutofit fontScale="40000" lnSpcReduction="20000"/>
          </a:bodyPr>
          <a:lstStyle/>
          <a:p>
            <a:r>
              <a:rPr lang="zh-CN" altLang="en-US" sz="2900" dirty="0">
                <a:latin typeface="+mj-ea"/>
                <a:ea typeface="+mj-ea"/>
              </a:rPr>
              <a:t>②看词语是否已投：增加计算列，并把为</a:t>
            </a:r>
            <a:r>
              <a:rPr lang="en-US" altLang="zh-CN" sz="2900" dirty="0">
                <a:latin typeface="+mj-ea"/>
                <a:ea typeface="+mj-ea"/>
              </a:rPr>
              <a:t>0</a:t>
            </a:r>
            <a:r>
              <a:rPr lang="zh-CN" altLang="en-US" sz="2900" dirty="0">
                <a:latin typeface="+mj-ea"/>
                <a:ea typeface="+mj-ea"/>
              </a:rPr>
              <a:t>的值用条件格式标红</a:t>
            </a:r>
            <a:endParaRPr lang="en-US" altLang="zh-CN" sz="2900" dirty="0">
              <a:latin typeface="+mj-ea"/>
              <a:ea typeface="+mj-ea"/>
            </a:endParaRPr>
          </a:p>
          <a:p>
            <a:endParaRPr lang="en-US" altLang="zh-CN" sz="2000" dirty="0">
              <a:latin typeface="+mj-ea"/>
              <a:ea typeface="+mj-ea"/>
            </a:endParaRPr>
          </a:p>
          <a:p>
            <a:r>
              <a:rPr lang="zh-CN" altLang="en-US" sz="2000" b="1" dirty="0">
                <a:latin typeface="+mj-ea"/>
                <a:ea typeface="+mj-ea"/>
              </a:rPr>
              <a:t>列一：</a:t>
            </a:r>
            <a:endParaRPr lang="en-US" altLang="zh-CN" sz="2000" b="1" dirty="0">
              <a:latin typeface="+mj-ea"/>
              <a:ea typeface="+mj-ea"/>
            </a:endParaRPr>
          </a:p>
          <a:p>
            <a:r>
              <a:rPr lang="en-US" altLang="zh-CN" sz="2000" b="1" dirty="0">
                <a:latin typeface="+mj-ea"/>
                <a:ea typeface="+mj-ea"/>
              </a:rPr>
              <a:t>=COUNTIF(keyword</a:t>
            </a:r>
            <a:r>
              <a:rPr lang="zh-CN" altLang="en-US" sz="2000" b="1" dirty="0">
                <a:latin typeface="+mj-ea"/>
                <a:ea typeface="+mj-ea"/>
              </a:rPr>
              <a:t>总数据</a:t>
            </a:r>
            <a:r>
              <a:rPr lang="en-US" altLang="zh-CN" sz="2000" b="1" dirty="0">
                <a:latin typeface="+mj-ea"/>
                <a:ea typeface="+mj-ea"/>
              </a:rPr>
              <a:t>!A:A,A8)+COUNTIF(keyword</a:t>
            </a:r>
            <a:r>
              <a:rPr lang="zh-CN" altLang="en-US" sz="2000" b="1" dirty="0">
                <a:latin typeface="+mj-ea"/>
                <a:ea typeface="+mj-ea"/>
              </a:rPr>
              <a:t>总数据</a:t>
            </a:r>
            <a:r>
              <a:rPr lang="en-US" altLang="zh-CN" sz="2000" b="1" dirty="0">
                <a:latin typeface="+mj-ea"/>
                <a:ea typeface="+mj-ea"/>
              </a:rPr>
              <a:t>!A:A,A8&amp;"s")+COUNTIF(keyword</a:t>
            </a:r>
            <a:r>
              <a:rPr lang="zh-CN" altLang="en-US" sz="2000" b="1" dirty="0">
                <a:latin typeface="+mj-ea"/>
                <a:ea typeface="+mj-ea"/>
              </a:rPr>
              <a:t>总数据</a:t>
            </a:r>
            <a:r>
              <a:rPr lang="en-US" altLang="zh-CN" sz="2000" b="1" dirty="0">
                <a:latin typeface="+mj-ea"/>
                <a:ea typeface="+mj-ea"/>
              </a:rPr>
              <a:t>!A:A,LEFT(A8,LEN(A8)-1))</a:t>
            </a:r>
            <a:endParaRPr lang="en-US" altLang="zh-CN" sz="2000" dirty="0">
              <a:latin typeface="+mj-ea"/>
              <a:ea typeface="+mj-ea"/>
            </a:endParaRPr>
          </a:p>
          <a:p>
            <a:r>
              <a:rPr lang="zh-CN" altLang="en-US" sz="1900" b="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说明：</a:t>
            </a:r>
            <a:endParaRPr lang="en-US" altLang="zh-CN" sz="1900" b="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en-US" altLang="zh-CN" sz="1900" dirty="0" err="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countif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(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要找的区域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,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要找的内容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)=</a:t>
            </a:r>
            <a:r>
              <a:rPr lang="en-US" altLang="zh-CN" sz="1900" dirty="0" err="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countif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(keyword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表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keyword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整列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,search term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对应单个单元格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) 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：</a:t>
            </a:r>
            <a:endParaRPr lang="en-US" altLang="zh-CN" sz="1900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lvl="1"/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计算一列里目标值出现了多少次，这里就是看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search term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在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keyword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里是否有出现</a:t>
            </a:r>
          </a:p>
          <a:p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有时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search term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和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keyword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的单复数形式不一样，所以这里需要三项，把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search term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多了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s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和少了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s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的情况都列进去：</a:t>
            </a:r>
          </a:p>
          <a:p>
            <a:pPr lvl="1"/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COUNTIF(keyword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总数据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!A:A,A8)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：精确匹配</a:t>
            </a:r>
          </a:p>
          <a:p>
            <a:pPr lvl="1"/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COUNTIF(keyword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总数据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!A:A,A8&amp;"s")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search term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单数，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keyword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复数</a:t>
            </a:r>
          </a:p>
          <a:p>
            <a:pPr lvl="1"/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COUNTIF(keyword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总数据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!A:A,LEFT(A8,LEN(A8)-1))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search term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复数，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keyword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单数</a:t>
            </a:r>
          </a:p>
          <a:p>
            <a:r>
              <a:rPr lang="en-US" altLang="zh-CN" sz="1900" dirty="0" err="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len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()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取单元格内字数，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left()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是指从单元格左起取几位字，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LEFT(A8,LEN(A8)-1))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就是取单元格不要最后一位</a:t>
            </a:r>
            <a:endParaRPr lang="en-US" altLang="zh-CN" sz="1900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zh-CN" altLang="en-US" sz="1900" b="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误差：</a:t>
            </a:r>
            <a:endParaRPr lang="en-US" altLang="zh-CN" sz="1900" b="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lvl="1"/>
            <a:r>
              <a:rPr lang="zh-CN" altLang="en-US" sz="1800" b="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①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keyword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那边只会出现有过点击的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targeting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，有投但是没有过点击的也会为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0</a:t>
            </a:r>
          </a:p>
          <a:p>
            <a:pPr lvl="1"/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②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search term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为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keyword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的其他变体情况未排除，但其他情况的比例不高，没必要专门写公式，可以自行排查</a:t>
            </a:r>
            <a:endParaRPr lang="en-US" altLang="zh-CN" sz="1800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endParaRPr lang="en-US" altLang="zh-CN" sz="2000" dirty="0">
              <a:latin typeface="+mj-ea"/>
              <a:ea typeface="+mj-ea"/>
            </a:endParaRPr>
          </a:p>
          <a:p>
            <a:r>
              <a:rPr lang="zh-CN" altLang="en-US" sz="2000" b="1" dirty="0">
                <a:latin typeface="+mj-ea"/>
                <a:ea typeface="+mj-ea"/>
              </a:rPr>
              <a:t>列二：</a:t>
            </a:r>
            <a:endParaRPr lang="en-US" altLang="zh-CN" sz="2000" b="1" dirty="0">
              <a:latin typeface="+mj-ea"/>
              <a:ea typeface="+mj-ea"/>
            </a:endParaRPr>
          </a:p>
          <a:p>
            <a:r>
              <a:rPr lang="en-US" altLang="zh-CN" sz="2000" b="1" dirty="0">
                <a:latin typeface="+mj-ea"/>
                <a:ea typeface="+mj-ea"/>
              </a:rPr>
              <a:t>=COUNTIF(keyword</a:t>
            </a:r>
            <a:r>
              <a:rPr lang="zh-CN" altLang="en-US" sz="2000" b="1" dirty="0">
                <a:latin typeface="+mj-ea"/>
                <a:ea typeface="+mj-ea"/>
              </a:rPr>
              <a:t>总数据</a:t>
            </a:r>
            <a:r>
              <a:rPr lang="en-US" altLang="zh-CN" sz="2000" b="1" dirty="0">
                <a:latin typeface="+mj-ea"/>
                <a:ea typeface="+mj-ea"/>
              </a:rPr>
              <a:t>!A:A,"*"&amp;A8&amp;"*")</a:t>
            </a:r>
          </a:p>
          <a:p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说明：如果投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ASIN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，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keyword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里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ASIN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出现形式是</a:t>
            </a:r>
            <a:r>
              <a:rPr lang="en-US" altLang="zh-CN" sz="1900" dirty="0" err="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asin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="B07WPKLCL3"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，非直接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ASIN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，所以要用模糊匹配</a:t>
            </a:r>
            <a:endParaRPr lang="en-US" altLang="zh-CN" sz="1900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【“*”&amp;A8&amp;“*”】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：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”*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“为任意字符的通配符</a:t>
            </a:r>
            <a:endParaRPr lang="en-US" altLang="zh-CN" sz="1900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lvl="1"/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A8 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的内容前后还可以添加其他字符，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A8 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可以在客户搜索词的任意位置。</a:t>
            </a:r>
            <a:endParaRPr lang="en-US" altLang="zh-CN" sz="1900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lvl="1"/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如果只想搜 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A8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组为词首的客户搜索词，可以去掉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【"*"&amp;B1&amp;"*"】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里单元格前面的 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【”*”&amp;】 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；如果想让 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A8 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作为结尾，就去掉后面的</a:t>
            </a:r>
            <a:r>
              <a:rPr lang="en-US" altLang="zh-CN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【&amp;"*"】</a:t>
            </a:r>
            <a:r>
              <a:rPr lang="zh-CN" altLang="en-US" sz="1900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。 </a:t>
            </a:r>
            <a:endParaRPr lang="en-US" altLang="zh-CN" sz="1900" dirty="0">
              <a:latin typeface="+mj-ea"/>
              <a:ea typeface="+mj-ea"/>
            </a:endParaRPr>
          </a:p>
          <a:p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DB74A4-F805-FBC7-23D2-1726AD5D1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761" y="2218872"/>
            <a:ext cx="2679838" cy="346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05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5D35A-DA8B-48DA-8A82-1CB0AF19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22248"/>
            <a:ext cx="9720072" cy="1499616"/>
          </a:xfrm>
        </p:spPr>
        <p:txBody>
          <a:bodyPr>
            <a:normAutofit/>
          </a:bodyPr>
          <a:lstStyle/>
          <a:p>
            <a:br>
              <a:rPr lang="zh-CN" altLang="en-US" dirty="0"/>
            </a:b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）词根分析：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73999E-D4DF-4B34-93E7-E9ED6FF8A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①拆词根：直接把</a:t>
            </a:r>
            <a:r>
              <a:rPr lang="en-US" altLang="zh-CN" sz="2000" dirty="0"/>
              <a:t>search term</a:t>
            </a:r>
            <a:r>
              <a:rPr lang="zh-CN" altLang="en-US" sz="2000" dirty="0"/>
              <a:t>列放到词频分析网站：</a:t>
            </a:r>
            <a:endParaRPr lang="en-US" altLang="zh-CN" sz="2000" dirty="0"/>
          </a:p>
          <a:p>
            <a:r>
              <a:rPr lang="en-US" altLang="zh-CN" sz="2000" dirty="0">
                <a:hlinkClick r:id="rId3"/>
              </a:rPr>
              <a:t>https://www.online-utility.org/text/analyzer.jsp</a:t>
            </a:r>
            <a:endParaRPr lang="en-US" altLang="zh-CN" sz="2000" dirty="0"/>
          </a:p>
          <a:p>
            <a:endParaRPr lang="en-US" altLang="zh-CN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39A84B-795B-46C1-A0BE-F5BF5AE7C0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40" y="3041084"/>
            <a:ext cx="7199930" cy="24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49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5D35A-DA8B-48DA-8A82-1CB0AF19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267" y="191072"/>
            <a:ext cx="9720072" cy="1499616"/>
          </a:xfrm>
        </p:spPr>
        <p:txBody>
          <a:bodyPr>
            <a:normAutofit/>
          </a:bodyPr>
          <a:lstStyle/>
          <a:p>
            <a:br>
              <a:rPr lang="zh-CN" altLang="en-US" dirty="0"/>
            </a:b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）词根分析：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73999E-D4DF-4B34-93E7-E9ED6FF8A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②</a:t>
            </a:r>
            <a:r>
              <a:rPr lang="zh-CN" altLang="en-US" sz="2000" dirty="0"/>
              <a:t>汇总词根数据：</a:t>
            </a:r>
            <a:r>
              <a:rPr lang="en-US" altLang="zh-CN" sz="2000" dirty="0"/>
              <a:t>=SUMIF('search term</a:t>
            </a:r>
            <a:r>
              <a:rPr lang="zh-CN" altLang="en-US" sz="2000" dirty="0"/>
              <a:t>原始</a:t>
            </a:r>
            <a:r>
              <a:rPr lang="en-US" altLang="zh-CN" sz="2000" dirty="0"/>
              <a:t>'!$A:$A,"*"&amp;B2&amp;"*",'search term</a:t>
            </a:r>
            <a:r>
              <a:rPr lang="zh-CN" altLang="en-US" sz="2000" dirty="0"/>
              <a:t>原始</a:t>
            </a:r>
            <a:r>
              <a:rPr lang="en-US" altLang="zh-CN" sz="2000" dirty="0"/>
              <a:t>'!D:D) </a:t>
            </a:r>
          </a:p>
          <a:p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说明：</a:t>
            </a:r>
          </a:p>
          <a:p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=SUMIF(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需要搜索的区域列，需要搜索的词，需要输出的值区域列）：</a:t>
            </a:r>
            <a:endParaRPr lang="en-US" altLang="zh-CN" sz="1200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在列一里找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，且把出现的所有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对应的列二的值相加</a:t>
            </a:r>
            <a:endParaRPr lang="en-US" altLang="zh-CN" sz="1200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在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search term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列里找包含目标词根的所有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term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，然后把对应的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impression/click/order/spend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等值相加，对词根赋予数值权重</a:t>
            </a:r>
          </a:p>
          <a:p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【“*”&amp;B2&amp;“*”】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：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”*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“为任意字符的通配符</a:t>
            </a:r>
            <a:endParaRPr lang="en-US" altLang="zh-CN" sz="1200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B2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的内容前后还可以添加其他字符，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A8 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可以在客户搜索词的任意位置。</a:t>
            </a:r>
            <a:endParaRPr lang="en-US" altLang="zh-CN" sz="1200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如果只想搜 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A8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组为词首的客户搜索词，可以去掉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【"*"&amp;B2&amp;"*"】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里单元格前面的 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【”*”&amp;】 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；如果想让 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B2 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作为结尾，就去掉后面的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【&amp;"*"】</a:t>
            </a:r>
          </a:p>
          <a:p>
            <a:pPr lvl="1"/>
            <a:r>
              <a:rPr lang="zh-CN" altLang="en-US" sz="1200" b="1" dirty="0">
                <a:solidFill>
                  <a:schemeClr val="accent5">
                    <a:lumMod val="50000"/>
                  </a:schemeClr>
                </a:solidFill>
              </a:rPr>
              <a:t>可能产生的误差：</a:t>
            </a:r>
            <a:endParaRPr lang="en-US" altLang="zh-CN" sz="12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①网站拆出来的词根可能有些许零散的字母，可以用</a:t>
            </a:r>
            <a:r>
              <a:rPr lang="en-US" altLang="zh-CN" sz="1200" dirty="0" err="1">
                <a:solidFill>
                  <a:schemeClr val="accent5">
                    <a:lumMod val="50000"/>
                  </a:schemeClr>
                </a:solidFill>
              </a:rPr>
              <a:t>len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函数把字符数＜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的词根排除</a:t>
            </a:r>
            <a:endParaRPr lang="en-US" altLang="zh-CN" sz="1200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②匹配出来的词未必是前后有空格的情况，部分较短的词语会被包含进大词里，可能会被重复计算，比如单词</a:t>
            </a:r>
            <a:r>
              <a:rPr lang="en-US" altLang="zh-CN" sz="1200" dirty="0" err="1">
                <a:solidFill>
                  <a:schemeClr val="accent5">
                    <a:lumMod val="50000"/>
                  </a:schemeClr>
                </a:solidFill>
              </a:rPr>
              <a:t>abcd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的数据也会被算进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ab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里。不过能被完全包含的进另一个单词内的词根的比例较小，最常见的情况是，词根的复数也会被算入该词根的数据中。</a:t>
            </a:r>
            <a:endParaRPr lang="en-US" altLang="zh-CN" sz="1200" dirty="0">
              <a:solidFill>
                <a:schemeClr val="accent5">
                  <a:lumMod val="50000"/>
                </a:schemeClr>
              </a:solidFill>
            </a:endParaRPr>
          </a:p>
          <a:p>
            <a:pPr lvl="2"/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③如果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search term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中一个词出现多次，只为该词根算一次的权重。</a:t>
            </a:r>
            <a:r>
              <a:rPr lang="en-US" altLang="zh-CN" sz="200" dirty="0">
                <a:solidFill>
                  <a:schemeClr val="accent5">
                    <a:lumMod val="50000"/>
                  </a:schemeClr>
                </a:solidFill>
              </a:rPr>
              <a:t>	</a:t>
            </a:r>
          </a:p>
          <a:p>
            <a:pPr lvl="2"/>
            <a:endParaRPr lang="zh-CN" altLang="en-US" sz="8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776A5E-9D38-CDD5-3577-F38F18A5A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314" y="5085145"/>
            <a:ext cx="4115011" cy="16701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5DDD095-FD00-02D2-1915-B3ECB8DC9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167312"/>
            <a:ext cx="5886753" cy="163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3D07E-A916-4259-9AAD-DF2C21252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6000" dirty="0"/>
              <a:t>3.</a:t>
            </a:r>
            <a:r>
              <a:rPr lang="zh-CN" altLang="en-US" sz="6000" dirty="0"/>
              <a:t>寻找其他加大空间：</a:t>
            </a:r>
            <a:br>
              <a:rPr lang="en-US" altLang="zh-CN" sz="6000" dirty="0"/>
            </a:b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0906CC-C631-42B0-9A37-AED24595F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75600" y="5188737"/>
            <a:ext cx="4108450" cy="1463040"/>
          </a:xfrm>
        </p:spPr>
        <p:txBody>
          <a:bodyPr>
            <a:noAutofit/>
          </a:bodyPr>
          <a:lstStyle/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）分析流量结构及变化趋势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）分析</a:t>
            </a:r>
            <a:r>
              <a:rPr lang="en-US" altLang="zh-CN" dirty="0"/>
              <a:t>model</a:t>
            </a:r>
            <a:r>
              <a:rPr lang="zh-CN" altLang="en-US" dirty="0"/>
              <a:t>的流量词变化趋势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ABA</a:t>
            </a:r>
            <a:r>
              <a:rPr lang="zh-CN" altLang="en-US" dirty="0"/>
              <a:t>报表分析寻找加大空间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）竞品</a:t>
            </a:r>
            <a:r>
              <a:rPr lang="en-US" altLang="zh-CN" dirty="0"/>
              <a:t>ASIN</a:t>
            </a:r>
            <a:r>
              <a:rPr lang="zh-CN" altLang="en-US" dirty="0"/>
              <a:t>流量词反查寻找加大空间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2479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F7309-DD88-4B06-8DEF-D5ECC220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）分析流量结构及变化趋势：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2D0BEC-90F4-4CB7-8894-5949CFC02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49450"/>
            <a:ext cx="9720073" cy="402336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①带广告类型的</a:t>
            </a:r>
            <a:r>
              <a:rPr lang="en-US" altLang="zh-CN" sz="2000" dirty="0"/>
              <a:t>SKU</a:t>
            </a:r>
            <a:r>
              <a:rPr lang="zh-CN" altLang="en-US" sz="2000" dirty="0"/>
              <a:t>报表拉数据透视表</a:t>
            </a:r>
            <a:r>
              <a:rPr lang="en-US" altLang="zh-CN" sz="2000" dirty="0"/>
              <a:t>——</a:t>
            </a:r>
            <a:r>
              <a:rPr lang="zh-CN" altLang="en-US" sz="2000" dirty="0"/>
              <a:t>用条件格式标注</a:t>
            </a:r>
            <a:r>
              <a:rPr lang="en-US" altLang="zh-CN" sz="2000" dirty="0"/>
              <a:t>order/spend/</a:t>
            </a:r>
            <a:r>
              <a:rPr lang="en-US" altLang="zh-CN" sz="2000" dirty="0" err="1"/>
              <a:t>acos</a:t>
            </a:r>
            <a:r>
              <a:rPr lang="en-US" altLang="zh-CN" sz="2000" dirty="0"/>
              <a:t>/</a:t>
            </a:r>
            <a:r>
              <a:rPr lang="en-US" altLang="zh-CN" sz="2000" dirty="0" err="1"/>
              <a:t>cvr</a:t>
            </a:r>
            <a:r>
              <a:rPr lang="zh-CN" altLang="en-US" sz="2000" dirty="0"/>
              <a:t>最高和最低值</a:t>
            </a:r>
            <a:r>
              <a:rPr lang="en-US" altLang="zh-CN" sz="2000" dirty="0"/>
              <a:t>+</a:t>
            </a:r>
            <a:r>
              <a:rPr lang="zh-CN" altLang="en-US" sz="2000" dirty="0"/>
              <a:t>空值（条件格式的设置参考图片）</a:t>
            </a:r>
            <a:endParaRPr lang="en-US" altLang="zh-CN" sz="2000" dirty="0"/>
          </a:p>
          <a:p>
            <a:pPr lvl="1"/>
            <a:r>
              <a:rPr lang="zh-CN" altLang="en-US" sz="1400" b="1" dirty="0">
                <a:solidFill>
                  <a:schemeClr val="accent5">
                    <a:lumMod val="50000"/>
                  </a:schemeClr>
                </a:solidFill>
              </a:rPr>
              <a:t>思路：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哪些类型的广告还没有布局；看花费最多的是否是出单最多的；表现好的广告和花费最多的广告是否一致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7CBCC9-D95A-4E55-95F5-5E7781D05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62" y="3044475"/>
            <a:ext cx="6024228" cy="15093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E0C3610-52F7-45CA-94AC-A932BFA5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07265"/>
            <a:ext cx="2305519" cy="14696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8ACE022-BCB2-4CCE-BC0D-60F7F562F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351" y="3049561"/>
            <a:ext cx="2808362" cy="303620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907" y="3044475"/>
            <a:ext cx="1878941" cy="304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87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F7309-DD88-4B06-8DEF-D5ECC220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）分析流量结构及变化趋势：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2D0BEC-90F4-4CB7-8894-5949CFC02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955800"/>
            <a:ext cx="9720073" cy="402336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②单独看某个</a:t>
            </a:r>
            <a:r>
              <a:rPr lang="en-US" altLang="zh-CN" sz="2000" dirty="0"/>
              <a:t>model</a:t>
            </a:r>
            <a:r>
              <a:rPr lang="zh-CN" altLang="en-US" sz="2000" dirty="0"/>
              <a:t>的类型订单变化趋势：</a:t>
            </a:r>
            <a:endParaRPr lang="en-US" altLang="zh-CN" sz="2000" dirty="0"/>
          </a:p>
          <a:p>
            <a:pPr lvl="1"/>
            <a:r>
              <a:rPr lang="en-US" altLang="zh-CN" sz="1600" dirty="0"/>
              <a:t>a.</a:t>
            </a:r>
            <a:r>
              <a:rPr lang="zh-CN" altLang="en-US" sz="1600" dirty="0"/>
              <a:t>单独开一个透视图，只看单个</a:t>
            </a:r>
            <a:r>
              <a:rPr lang="en-US" altLang="zh-CN" sz="1600" dirty="0"/>
              <a:t>model</a:t>
            </a:r>
            <a:r>
              <a:rPr lang="zh-CN" altLang="en-US" sz="1600" dirty="0"/>
              <a:t>的不同类型订单随时间变化趋势，生成折线图</a:t>
            </a:r>
            <a:endParaRPr lang="en-US" altLang="zh-CN" sz="1600" dirty="0"/>
          </a:p>
          <a:p>
            <a:pPr lvl="1"/>
            <a:r>
              <a:rPr lang="en-US" altLang="zh-CN" sz="1600" dirty="0"/>
              <a:t>b.</a:t>
            </a:r>
            <a:r>
              <a:rPr lang="zh-CN" altLang="en-US" sz="1600" dirty="0"/>
              <a:t>单独插入</a:t>
            </a:r>
            <a:r>
              <a:rPr lang="en-US" altLang="zh-CN" sz="1600" dirty="0"/>
              <a:t>model</a:t>
            </a:r>
            <a:r>
              <a:rPr lang="zh-CN" altLang="en-US" sz="1600" dirty="0"/>
              <a:t>的切片器</a:t>
            </a:r>
            <a:endParaRPr lang="en-US" altLang="zh-CN" sz="16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486" y="3662606"/>
            <a:ext cx="3515408" cy="20249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3064E97-4884-4865-D41A-A62F7FDCE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09" y="2901866"/>
            <a:ext cx="4178515" cy="32767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39B7B58-0E34-CAE4-B682-8F6D9E0AC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1683" y="3721062"/>
            <a:ext cx="1657435" cy="148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19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F7309-DD88-4B06-8DEF-D5ECC220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）分析流量结构及变化趋势：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2D0BEC-90F4-4CB7-8894-5949CFC02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007" y="1818330"/>
            <a:ext cx="11693478" cy="402336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sz="2000" dirty="0"/>
              <a:t>③把切片器和图表复制到综合看的表：在看总体的情况下单独看某个</a:t>
            </a:r>
            <a:r>
              <a:rPr lang="en-US" altLang="zh-CN" sz="2000" dirty="0"/>
              <a:t>model</a:t>
            </a:r>
            <a:r>
              <a:rPr lang="zh-CN" altLang="en-US" sz="2000" dirty="0"/>
              <a:t>的变化趋势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	</a:t>
            </a:r>
            <a:r>
              <a:rPr lang="zh-CN" altLang="en-US" sz="1400" b="1" dirty="0">
                <a:solidFill>
                  <a:schemeClr val="accent5">
                    <a:lumMod val="50000"/>
                  </a:schemeClr>
                </a:solidFill>
              </a:rPr>
              <a:t>原理：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复制过来的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model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切片器只控制折线图，不对大表进行筛选。</a:t>
            </a:r>
            <a:endParaRPr lang="en-US" altLang="zh-CN" sz="1400" dirty="0">
              <a:solidFill>
                <a:schemeClr val="accent5">
                  <a:lumMod val="50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zh-CN" altLang="en-US" sz="1400" b="1" dirty="0">
                <a:solidFill>
                  <a:schemeClr val="accent5">
                    <a:lumMod val="50000"/>
                  </a:schemeClr>
                </a:solidFill>
              </a:rPr>
              <a:t>延申：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可以再做一张单个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model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单个广告类型的具体数值透视表，切片器为广告类型，之后把折线图和切片器一起复制到总表。</a:t>
            </a:r>
            <a:endParaRPr lang="en-US" altLang="zh-CN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" y="3428585"/>
            <a:ext cx="5751385" cy="274837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063" y="3442209"/>
            <a:ext cx="5067929" cy="273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5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8E564-443F-434E-9889-4F8161F5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）分析</a:t>
            </a:r>
            <a:r>
              <a:rPr lang="en-US" altLang="zh-CN" dirty="0"/>
              <a:t>model</a:t>
            </a:r>
            <a:r>
              <a:rPr lang="zh-CN" altLang="en-US" dirty="0"/>
              <a:t>的流量词变化趋势：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267801-B78A-42E6-AB5F-00AE19F1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739900"/>
            <a:ext cx="9720073" cy="402336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①制作透视表</a:t>
            </a:r>
            <a:r>
              <a:rPr lang="en-US" altLang="zh-CN" sz="2000" dirty="0"/>
              <a:t>1</a:t>
            </a:r>
            <a:r>
              <a:rPr lang="zh-CN" altLang="en-US" sz="2000" dirty="0"/>
              <a:t>，分析</a:t>
            </a:r>
            <a:r>
              <a:rPr lang="en-US" altLang="zh-CN" sz="2000" dirty="0"/>
              <a:t>search term</a:t>
            </a:r>
            <a:r>
              <a:rPr lang="zh-CN" altLang="en-US" sz="2000" dirty="0"/>
              <a:t>的订单数随时间变化趋势，且筛选出出单最多的前五项制作折线图</a:t>
            </a:r>
            <a:endParaRPr lang="zh-CN" alt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39516"/>
            <a:ext cx="4895238" cy="16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12370"/>
            <a:ext cx="3484670" cy="232106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11786"/>
            <a:ext cx="3561825" cy="217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944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8E564-443F-434E-9889-4F8161F5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）分析</a:t>
            </a:r>
            <a:r>
              <a:rPr lang="en-US" altLang="zh-CN" dirty="0"/>
              <a:t>model</a:t>
            </a:r>
            <a:r>
              <a:rPr lang="zh-CN" altLang="en-US" dirty="0"/>
              <a:t>的流量词变化趋势：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267801-B78A-42E6-AB5F-00AE19F1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847850"/>
            <a:ext cx="9720073" cy="402336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②制作透视表</a:t>
            </a:r>
            <a:r>
              <a:rPr lang="en-US" altLang="zh-CN" sz="2000" dirty="0"/>
              <a:t>2</a:t>
            </a:r>
            <a:r>
              <a:rPr lang="zh-CN" altLang="en-US" sz="2000" dirty="0"/>
              <a:t>，分析单个</a:t>
            </a:r>
            <a:r>
              <a:rPr lang="en-US" altLang="zh-CN" sz="2000" dirty="0"/>
              <a:t>search term</a:t>
            </a:r>
            <a:r>
              <a:rPr lang="zh-CN" altLang="en-US" sz="2000" dirty="0"/>
              <a:t>的订单数</a:t>
            </a:r>
            <a:r>
              <a:rPr lang="en-US" altLang="zh-CN" sz="2000" dirty="0"/>
              <a:t>/CPC/</a:t>
            </a:r>
            <a:r>
              <a:rPr lang="zh-CN" altLang="en-US" sz="2000" dirty="0"/>
              <a:t>曝光随时间变化趋势，制作</a:t>
            </a:r>
            <a:r>
              <a:rPr lang="en-US" altLang="zh-CN" sz="2000" dirty="0"/>
              <a:t>search term</a:t>
            </a:r>
            <a:r>
              <a:rPr lang="zh-CN" altLang="en-US" sz="2000" dirty="0"/>
              <a:t>切片器</a:t>
            </a:r>
            <a:endParaRPr lang="zh-CN" altLang="en-US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27656"/>
            <a:ext cx="3247619" cy="14380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79649"/>
            <a:ext cx="3506506" cy="213225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778" y="3036250"/>
            <a:ext cx="1828571" cy="2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3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8E564-443F-434E-9889-4F8161F5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）分析</a:t>
            </a:r>
            <a:r>
              <a:rPr lang="en-US" altLang="zh-CN" dirty="0"/>
              <a:t>model</a:t>
            </a:r>
            <a:r>
              <a:rPr lang="zh-CN" altLang="en-US" dirty="0"/>
              <a:t>的流量词变化趋势：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267801-B78A-42E6-AB5F-00AE19F1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733550"/>
            <a:ext cx="9720073" cy="402336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③把表</a:t>
            </a:r>
            <a:r>
              <a:rPr lang="en-US" altLang="zh-CN" sz="2000" dirty="0"/>
              <a:t>1</a:t>
            </a:r>
            <a:r>
              <a:rPr lang="zh-CN" altLang="en-US" sz="2000" dirty="0"/>
              <a:t>和表</a:t>
            </a:r>
            <a:r>
              <a:rPr lang="en-US" altLang="zh-CN" sz="2000" dirty="0"/>
              <a:t>2</a:t>
            </a:r>
            <a:r>
              <a:rPr lang="zh-CN" altLang="en-US" sz="2000" dirty="0"/>
              <a:t>的折线图和切片器复制到</a:t>
            </a:r>
            <a:r>
              <a:rPr lang="en-US" altLang="zh-CN" sz="2000" dirty="0"/>
              <a:t>search term</a:t>
            </a:r>
            <a:r>
              <a:rPr lang="zh-CN" altLang="en-US" sz="2000" dirty="0"/>
              <a:t>报表</a:t>
            </a:r>
            <a:endParaRPr lang="en-US" altLang="zh-CN" sz="2000" dirty="0"/>
          </a:p>
          <a:p>
            <a:pPr lvl="1"/>
            <a:r>
              <a:rPr lang="zh-CN" altLang="en-US" sz="1200" dirty="0"/>
              <a:t>可同步观察：单个</a:t>
            </a:r>
            <a:r>
              <a:rPr lang="en-US" altLang="zh-CN" sz="1200" dirty="0"/>
              <a:t>model</a:t>
            </a:r>
            <a:r>
              <a:rPr lang="zh-CN" altLang="en-US" sz="1200" dirty="0"/>
              <a:t>的所有</a:t>
            </a:r>
            <a:r>
              <a:rPr lang="en-US" altLang="zh-CN" sz="1200" dirty="0"/>
              <a:t>search term</a:t>
            </a:r>
            <a:r>
              <a:rPr lang="zh-CN" altLang="en-US" sz="1200" dirty="0"/>
              <a:t>数据</a:t>
            </a:r>
            <a:r>
              <a:rPr lang="en-US" altLang="zh-CN" sz="1200" dirty="0"/>
              <a:t>+</a:t>
            </a:r>
            <a:r>
              <a:rPr lang="zh-CN" altLang="en-US" sz="1200" dirty="0"/>
              <a:t>出单最多的五个</a:t>
            </a:r>
            <a:r>
              <a:rPr lang="en-US" altLang="zh-CN" sz="1200" dirty="0"/>
              <a:t>search term</a:t>
            </a:r>
            <a:r>
              <a:rPr lang="zh-CN" altLang="en-US" sz="1200" dirty="0"/>
              <a:t>订单变化趋势</a:t>
            </a:r>
            <a:r>
              <a:rPr lang="en-US" altLang="zh-CN" sz="1200" dirty="0"/>
              <a:t>+</a:t>
            </a:r>
            <a:r>
              <a:rPr lang="zh-CN" altLang="en-US" sz="1200" dirty="0"/>
              <a:t>单个词订单变化趋势与</a:t>
            </a:r>
            <a:r>
              <a:rPr lang="en-US" altLang="zh-CN" sz="1200" dirty="0"/>
              <a:t>CPC</a:t>
            </a:r>
            <a:r>
              <a:rPr lang="zh-CN" altLang="en-US" sz="1200" dirty="0"/>
              <a:t>和曝光关系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B115F0-E276-2BB1-200F-6A29FEAD7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17" y="2338801"/>
            <a:ext cx="10674899" cy="44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39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BC1B5-EF93-4985-A3B6-2322A40B1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ABA</a:t>
            </a:r>
            <a:r>
              <a:rPr lang="zh-CN" altLang="en-US" dirty="0"/>
              <a:t>报表分析：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32A409-826F-48AC-BFD2-2A48A3C68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844186"/>
            <a:ext cx="9720073" cy="402336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②利用高级筛选快速筛选目标产品：在前三</a:t>
            </a:r>
            <a:r>
              <a:rPr lang="en-US" altLang="zh-CN" sz="2000" dirty="0"/>
              <a:t>ASIN</a:t>
            </a:r>
            <a:r>
              <a:rPr lang="zh-CN" altLang="en-US" sz="2000" dirty="0"/>
              <a:t>中同时筛选出本产品的</a:t>
            </a:r>
            <a:r>
              <a:rPr lang="en-US" altLang="zh-CN" sz="2000" dirty="0"/>
              <a:t>ASIN</a:t>
            </a:r>
            <a:endParaRPr lang="zh-CN" altLang="en-US" sz="2000" dirty="0"/>
          </a:p>
          <a:p>
            <a:pPr lvl="1"/>
            <a:r>
              <a:rPr lang="zh-CN" altLang="en-US" sz="1200" b="1" dirty="0">
                <a:solidFill>
                  <a:schemeClr val="accent5">
                    <a:lumMod val="50000"/>
                  </a:schemeClr>
                </a:solidFill>
              </a:rPr>
              <a:t>规则：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以表格的形式设定筛选条件，条件区域选中规则表格区域</a:t>
            </a:r>
          </a:p>
          <a:p>
            <a:pPr lvl="2"/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a.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表头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=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某个值：全部条件在一行是和关系，隔行是或关系</a:t>
            </a:r>
          </a:p>
          <a:p>
            <a:pPr lvl="2"/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b.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规则里必须呈现等号，所以用连字符连起来：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 ="="&amp;A2</a:t>
            </a:r>
          </a:p>
          <a:p>
            <a:pPr lvl="1"/>
            <a:r>
              <a:rPr lang="zh-CN" altLang="en-US" sz="1200" b="1" dirty="0">
                <a:solidFill>
                  <a:schemeClr val="accent5">
                    <a:lumMod val="50000"/>
                  </a:schemeClr>
                </a:solidFill>
              </a:rPr>
              <a:t>延申：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可以同时查多个竞品在第一的情况</a:t>
            </a:r>
            <a:endParaRPr lang="en-US" altLang="zh-CN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D9194A1-2BE8-402B-BE1D-966B724D3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71" y="5242218"/>
            <a:ext cx="11227315" cy="125065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4458B43-5954-4F33-94B5-849869453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671" y="3315660"/>
            <a:ext cx="2136664" cy="79117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423" y="3313529"/>
            <a:ext cx="1457765" cy="18733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8FCB2E0-F4EB-6623-862F-6B2824429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179" y="3206411"/>
            <a:ext cx="5026821" cy="74283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DB0A272-EA2B-398D-EDC2-CD6F71E76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000" y="3855866"/>
            <a:ext cx="2280374" cy="117549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B5BCBEF4-3600-7B67-EDB8-453AB394DE66}"/>
              </a:ext>
            </a:extLst>
          </p:cNvPr>
          <p:cNvSpPr/>
          <p:nvPr/>
        </p:nvSpPr>
        <p:spPr>
          <a:xfrm>
            <a:off x="848784" y="6272784"/>
            <a:ext cx="941834" cy="823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F1FEEA-DC13-C7BF-8E00-9C8758C7B7AB}"/>
              </a:ext>
            </a:extLst>
          </p:cNvPr>
          <p:cNvSpPr/>
          <p:nvPr/>
        </p:nvSpPr>
        <p:spPr>
          <a:xfrm>
            <a:off x="2943014" y="5358627"/>
            <a:ext cx="401320" cy="1121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85759C-6F5A-9D0F-D8CC-BCD3655982B1}"/>
              </a:ext>
            </a:extLst>
          </p:cNvPr>
          <p:cNvSpPr/>
          <p:nvPr/>
        </p:nvSpPr>
        <p:spPr>
          <a:xfrm>
            <a:off x="7485376" y="5347633"/>
            <a:ext cx="502920" cy="1121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927B13-8C82-2027-F727-0F9A75367E43}"/>
              </a:ext>
            </a:extLst>
          </p:cNvPr>
          <p:cNvSpPr/>
          <p:nvPr/>
        </p:nvSpPr>
        <p:spPr>
          <a:xfrm>
            <a:off x="3369741" y="5334624"/>
            <a:ext cx="502920" cy="1121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FA9E8A-9F42-88BC-053E-281D0C0DA3B7}"/>
              </a:ext>
            </a:extLst>
          </p:cNvPr>
          <p:cNvSpPr/>
          <p:nvPr/>
        </p:nvSpPr>
        <p:spPr>
          <a:xfrm>
            <a:off x="6957049" y="5358627"/>
            <a:ext cx="502920" cy="1121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3074A05-C8CB-D343-9EBA-2D517B4862D1}"/>
              </a:ext>
            </a:extLst>
          </p:cNvPr>
          <p:cNvSpPr/>
          <p:nvPr/>
        </p:nvSpPr>
        <p:spPr>
          <a:xfrm>
            <a:off x="10999043" y="5358627"/>
            <a:ext cx="502920" cy="1121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87057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0FA11-2022-42C5-8091-2C4E2486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）竞品</a:t>
            </a:r>
            <a:r>
              <a:rPr lang="en-US" altLang="zh-CN" dirty="0"/>
              <a:t>ASIN</a:t>
            </a:r>
            <a:r>
              <a:rPr lang="zh-CN" altLang="en-US" dirty="0"/>
              <a:t>反查：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E619C9-6736-48C9-B768-DECE61714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940790"/>
            <a:ext cx="9720073" cy="4023360"/>
          </a:xfrm>
        </p:spPr>
        <p:txBody>
          <a:bodyPr/>
          <a:lstStyle/>
          <a:p>
            <a:r>
              <a:rPr lang="zh-CN" altLang="en-US" sz="2000" dirty="0"/>
              <a:t>步骤：下载反查数据</a:t>
            </a:r>
            <a:r>
              <a:rPr lang="en-US" altLang="zh-CN" sz="2000" dirty="0"/>
              <a:t>——</a:t>
            </a:r>
            <a:r>
              <a:rPr lang="zh-CN" altLang="en-US" sz="2000" dirty="0"/>
              <a:t>原始数据添加一列，标注类型为本品</a:t>
            </a:r>
            <a:r>
              <a:rPr lang="en-US" altLang="zh-CN" sz="2000" dirty="0"/>
              <a:t>/</a:t>
            </a:r>
            <a:r>
              <a:rPr lang="zh-CN" altLang="en-US" sz="2000" dirty="0"/>
              <a:t>竞品</a:t>
            </a:r>
            <a:r>
              <a:rPr lang="en-US" altLang="zh-CN" sz="2000" dirty="0"/>
              <a:t>——</a:t>
            </a:r>
            <a:r>
              <a:rPr lang="zh-CN" altLang="en-US" sz="2000" dirty="0"/>
              <a:t>数据透视表</a:t>
            </a:r>
            <a:endParaRPr lang="en-US" altLang="zh-CN" sz="2000" dirty="0"/>
          </a:p>
          <a:p>
            <a:r>
              <a:rPr lang="zh-CN" altLang="en-US" sz="2000" dirty="0"/>
              <a:t>思路：把关键词除重后对比本品和竞品的布局，看同类竞品有哪些词是流量占比高，且搜索量大的词，自己没有打的</a:t>
            </a:r>
            <a:endParaRPr lang="en-US" altLang="zh-CN" sz="2000" dirty="0"/>
          </a:p>
          <a:p>
            <a:r>
              <a:rPr lang="zh-CN" altLang="en-US" sz="1400" b="1" dirty="0">
                <a:solidFill>
                  <a:schemeClr val="accent1">
                    <a:lumMod val="50000"/>
                  </a:schemeClr>
                </a:solidFill>
              </a:rPr>
              <a:t>数据来源：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SIF: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hlinkClick r:id="rId3"/>
              </a:rPr>
              <a:t>https://www.sif.com/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（目前仅美国）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en-US" altLang="zh-CN" sz="1400" dirty="0" err="1">
                <a:solidFill>
                  <a:schemeClr val="accent1">
                    <a:lumMod val="50000"/>
                  </a:schemeClr>
                </a:solidFill>
              </a:rPr>
              <a:t>Sellor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 Motor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的竞品跟踪：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hlinkClick r:id="rId4"/>
              </a:rPr>
              <a:t>https://xp.sellermotor.com/selection/asin-track/index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（缺加拿大）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</a:endParaRPr>
          </a:p>
          <a:p>
            <a:pPr lvl="1"/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卖家精灵的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ASIN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反查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hlinkClick r:id="rId5"/>
              </a:rPr>
              <a:t>https://www.sellersprite.com/v2/keyword-reverse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</a:rPr>
              <a:t>（国家较全）</a:t>
            </a:r>
          </a:p>
          <a:p>
            <a:r>
              <a:rPr lang="zh-CN" altLang="en-US" sz="1200" b="1" dirty="0">
                <a:solidFill>
                  <a:schemeClr val="accent5">
                    <a:lumMod val="50000"/>
                  </a:schemeClr>
                </a:solidFill>
              </a:rPr>
              <a:t>注意：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搜索量</a:t>
            </a:r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CN" altLang="en-US" sz="1200" dirty="0">
                <a:solidFill>
                  <a:schemeClr val="accent5">
                    <a:lumMod val="50000"/>
                  </a:schemeClr>
                </a:solidFill>
              </a:rPr>
              <a:t>点击量这类依托于关键词本身的数值，用平均值而不是求和展示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8F742D-8B5A-4357-A1D5-243CDD9CFD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80" y="5563279"/>
            <a:ext cx="7460314" cy="12423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240CF26-59B3-4FA3-B92D-10508AF91F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80" y="4569645"/>
            <a:ext cx="7461970" cy="107618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7195506-B071-498E-A327-C6E9C6ED15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308" y="4490562"/>
            <a:ext cx="3269263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06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52ECC-6FB1-4864-994D-8953CE0E0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6000" dirty="0"/>
              <a:t>4.</a:t>
            </a:r>
            <a:r>
              <a:rPr lang="zh-CN" altLang="en-US" sz="6000" dirty="0"/>
              <a:t>其他延申：</a:t>
            </a:r>
            <a:br>
              <a:rPr lang="en-US" altLang="zh-CN" sz="6000" dirty="0"/>
            </a:b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FCB002-9534-4A63-8EF2-B7352B1DE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03811" y="5092760"/>
            <a:ext cx="4488238" cy="1463040"/>
          </a:xfrm>
        </p:spPr>
        <p:txBody>
          <a:bodyPr>
            <a:noAutofit/>
          </a:bodyPr>
          <a:lstStyle/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）计算文本里单词总个数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）计算文本里有多少个目标单词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SQL</a:t>
            </a:r>
            <a:r>
              <a:rPr lang="zh-CN" altLang="en-US" dirty="0"/>
              <a:t>：快速刷新原始数据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）快速把分列的词改成用逗号连接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804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62591-3EBD-4AC1-A16C-6879697E4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（</a:t>
            </a:r>
            <a:r>
              <a:rPr lang="en-US" altLang="zh-CN" sz="4400" dirty="0"/>
              <a:t>1</a:t>
            </a:r>
            <a:r>
              <a:rPr lang="zh-CN" altLang="en-US" sz="4400" dirty="0"/>
              <a:t>）计算文本里单词总个数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13884C-B578-4AF1-B125-99E16CAC0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=LEN(A8)-LEN(SUBSTITUTE(A8," ",""))+1</a:t>
            </a:r>
          </a:p>
          <a:p>
            <a:endParaRPr lang="en-US" altLang="zh-CN" sz="2000" dirty="0"/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说明：</a:t>
            </a:r>
          </a:p>
          <a:p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=SUBSTITUTE(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目标单元格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,"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被替换的符号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","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替换成的符号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")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，这里是把空格换成无空格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带空格时的字数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-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不带空格的字数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=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空格数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空格数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+1=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单词数</a:t>
            </a:r>
            <a:endParaRPr lang="en-US" altLang="zh-CN" sz="140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715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8BC96-FD2A-4EC2-8A50-4FDD940C1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（</a:t>
            </a:r>
            <a:r>
              <a:rPr lang="en-US" altLang="zh-CN" sz="4400" dirty="0"/>
              <a:t>2</a:t>
            </a:r>
            <a:r>
              <a:rPr lang="zh-CN" altLang="en-US" sz="4400" dirty="0"/>
              <a:t>）计算文本里有多少个目标单词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E0327D-6DF4-4515-8F49-A9D2B48EF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=(LEN($C$2)-LEN(SUBSTITUTE($C$2,A2,"")))/LEN(A2)</a:t>
            </a:r>
          </a:p>
          <a:p>
            <a:endParaRPr lang="en-US" altLang="zh-CN" sz="2000" dirty="0"/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说明：</a:t>
            </a:r>
          </a:p>
          <a:p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=(LEN(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文本单元格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)-LEN(SUBSTITUTE(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文本单元格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,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目标词单元格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,"")))/LEN(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目标词单元格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)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把目标词替换成无，用文本原来的字数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-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替换后的字数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=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减少的字数，减少的字数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目标词字数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=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目标词个数</a:t>
            </a:r>
            <a:endParaRPr lang="en-US" altLang="zh-CN" sz="1400" dirty="0">
              <a:solidFill>
                <a:schemeClr val="accent5">
                  <a:lumMod val="50000"/>
                </a:schemeClr>
              </a:solidFill>
            </a:endParaRPr>
          </a:p>
          <a:p>
            <a:endParaRPr lang="zh-CN" altLang="en-US" sz="14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适用场景：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listing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埋词自查，邮件敏感词自查</a:t>
            </a:r>
          </a:p>
        </p:txBody>
      </p:sp>
    </p:spTree>
    <p:extLst>
      <p:ext uri="{BB962C8B-B14F-4D97-AF65-F5344CB8AC3E}">
        <p14:creationId xmlns:p14="http://schemas.microsoft.com/office/powerpoint/2010/main" val="2672276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A31A9-3FD5-42B4-AD07-A66A6828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（</a:t>
            </a:r>
            <a:r>
              <a:rPr lang="en-US" altLang="zh-CN" sz="4400" dirty="0"/>
              <a:t>3</a:t>
            </a:r>
            <a:r>
              <a:rPr lang="zh-CN" altLang="en-US" sz="4400" dirty="0"/>
              <a:t>）快速把分列的词改成用逗号连接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7D83F-AC9F-447D-AEB0-90B1C6785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复制后放入</a:t>
            </a:r>
            <a:r>
              <a:rPr lang="en-US" altLang="zh-CN" sz="2000" dirty="0"/>
              <a:t>word</a:t>
            </a:r>
            <a:r>
              <a:rPr lang="zh-CN" altLang="en-US" sz="2000" dirty="0"/>
              <a:t>，替换，把</a:t>
            </a:r>
            <a:r>
              <a:rPr lang="en-US" altLang="zh-CN" sz="2000" dirty="0"/>
              <a:t>^p</a:t>
            </a:r>
            <a:r>
              <a:rPr lang="zh-CN" altLang="en-US" sz="2000" dirty="0"/>
              <a:t>替换为</a:t>
            </a:r>
            <a:r>
              <a:rPr lang="en-US" altLang="zh-CN" sz="2000" dirty="0"/>
              <a:t>,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E1AF05-B97B-41F1-B769-1A0B242E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862" y="2843239"/>
            <a:ext cx="5639289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512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87EBB-E3F3-47BC-8909-02FB93BB3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40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（</a:t>
            </a:r>
            <a:r>
              <a:rPr lang="en-US" altLang="zh-CN" sz="4400" dirty="0"/>
              <a:t>4</a:t>
            </a:r>
            <a:r>
              <a:rPr lang="zh-CN" altLang="en-US" sz="4400" dirty="0"/>
              <a:t>）</a:t>
            </a:r>
            <a:r>
              <a:rPr lang="en-US" altLang="zh-CN" sz="4400" dirty="0"/>
              <a:t>SQL</a:t>
            </a:r>
            <a:r>
              <a:rPr lang="zh-CN" altLang="en-US" sz="4400" dirty="0"/>
              <a:t>：快速刷新原始数据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1A0B01-D01B-48E0-9213-CB88A0105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在分析表</a:t>
            </a:r>
            <a:r>
              <a:rPr lang="en-US" altLang="zh-CN" sz="2000" dirty="0"/>
              <a:t>2</a:t>
            </a:r>
            <a:r>
              <a:rPr lang="zh-CN" altLang="en-US" sz="2000" dirty="0"/>
              <a:t>专门为数据源设置一个表</a:t>
            </a:r>
            <a:r>
              <a:rPr lang="en-US" altLang="zh-CN" sz="2000" dirty="0"/>
              <a:t>——</a:t>
            </a:r>
            <a:r>
              <a:rPr lang="zh-CN" altLang="en-US" sz="2000" dirty="0"/>
              <a:t>数据</a:t>
            </a:r>
            <a:r>
              <a:rPr lang="en-US" altLang="zh-CN" sz="2000" dirty="0"/>
              <a:t>——</a:t>
            </a:r>
            <a:r>
              <a:rPr lang="zh-CN" altLang="en-US" sz="2000" dirty="0"/>
              <a:t>现有连接</a:t>
            </a:r>
            <a:r>
              <a:rPr lang="en-US" altLang="zh-CN" sz="2000" dirty="0"/>
              <a:t>——</a:t>
            </a:r>
            <a:r>
              <a:rPr lang="zh-CN" altLang="en-US" sz="2000" dirty="0"/>
              <a:t>目标表</a:t>
            </a:r>
            <a:r>
              <a:rPr lang="en-US" altLang="zh-CN" sz="2000" dirty="0"/>
              <a:t>1</a:t>
            </a:r>
          </a:p>
          <a:p>
            <a:r>
              <a:rPr lang="zh-CN" altLang="en-US" sz="2000" dirty="0"/>
              <a:t>之后每次下载新数据覆盖目标表</a:t>
            </a:r>
            <a:r>
              <a:rPr lang="en-US" altLang="zh-CN" sz="2000" dirty="0"/>
              <a:t>1</a:t>
            </a:r>
            <a:r>
              <a:rPr lang="zh-CN" altLang="en-US" sz="2000" dirty="0"/>
              <a:t>，在分析表</a:t>
            </a:r>
            <a:r>
              <a:rPr lang="en-US" altLang="zh-CN" sz="2000" dirty="0"/>
              <a:t>2</a:t>
            </a:r>
            <a:r>
              <a:rPr lang="zh-CN" altLang="en-US" sz="2000" dirty="0"/>
              <a:t>刷新数据即可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属性设置：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勾选：用新数据覆盖现有单元格，清除没有使用的单元格</a:t>
            </a:r>
          </a:p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不勾选：调整列宽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包含行号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</a:rPr>
              <a:t>/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</a:rPr>
              <a:t>保留列排序筛选布局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F025E9-AF9A-42F3-9D31-6FF9091A2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4884840"/>
            <a:ext cx="4940742" cy="14245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3EF1F1-91DF-44B6-8F5B-297F43032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114" y="2820452"/>
            <a:ext cx="3323561" cy="309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087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820</TotalTime>
  <Words>2720</Words>
  <Application>Microsoft Office PowerPoint</Application>
  <PresentationFormat>宽屏</PresentationFormat>
  <Paragraphs>195</Paragraphs>
  <Slides>27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等线</vt:lpstr>
      <vt:lpstr>Tw Cen MT</vt:lpstr>
      <vt:lpstr>Tw Cen MT Condensed</vt:lpstr>
      <vt:lpstr>Wingdings 3</vt:lpstr>
      <vt:lpstr>积分</vt:lpstr>
      <vt:lpstr>Excel报表制作</vt:lpstr>
      <vt:lpstr>Excel报表制作</vt:lpstr>
      <vt:lpstr>1.基础设置： </vt:lpstr>
      <vt:lpstr>（1）时间函数</vt:lpstr>
      <vt:lpstr>（1）时间函数</vt:lpstr>
      <vt:lpstr>（2）透视表设置： 在透视表里用条件格式，如何保证不被刷新</vt:lpstr>
      <vt:lpstr>2.search term报告分析： </vt:lpstr>
      <vt:lpstr>（1）前期准备：</vt:lpstr>
      <vt:lpstr>（1）前期准备：</vt:lpstr>
      <vt:lpstr>（2）search term表函数：</vt:lpstr>
      <vt:lpstr>（2）search term表函数：</vt:lpstr>
      <vt:lpstr> （3）词根分析：</vt:lpstr>
      <vt:lpstr> （3）词根分析：</vt:lpstr>
      <vt:lpstr>3.寻找其他加大空间： </vt:lpstr>
      <vt:lpstr>（1）分析流量结构及变化趋势：</vt:lpstr>
      <vt:lpstr>（1）分析流量结构及变化趋势：</vt:lpstr>
      <vt:lpstr>（1）分析流量结构及变化趋势：</vt:lpstr>
      <vt:lpstr>（2）分析model的流量词变化趋势：</vt:lpstr>
      <vt:lpstr>（2）分析model的流量词变化趋势：</vt:lpstr>
      <vt:lpstr>（2）分析model的流量词变化趋势：</vt:lpstr>
      <vt:lpstr>（3）ABA报表分析：</vt:lpstr>
      <vt:lpstr>（4）竞品ASIN反查：</vt:lpstr>
      <vt:lpstr>4.其他延申： </vt:lpstr>
      <vt:lpstr>（1）计算文本里单词总个数</vt:lpstr>
      <vt:lpstr>（2）计算文本里有多少个目标单词</vt:lpstr>
      <vt:lpstr>（3）快速把分列的词改成用逗号连接</vt:lpstr>
      <vt:lpstr>（4）SQL：快速刷新原始数据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借助Excel函数提高效率</dc:title>
  <dc:creator>Li Lu</dc:creator>
  <cp:lastModifiedBy>e18125</cp:lastModifiedBy>
  <cp:revision>242</cp:revision>
  <dcterms:created xsi:type="dcterms:W3CDTF">2021-06-06T03:00:05Z</dcterms:created>
  <dcterms:modified xsi:type="dcterms:W3CDTF">2025-08-17T13:54:35Z</dcterms:modified>
</cp:coreProperties>
</file>